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4" r:id="rId5"/>
  </p:sldMasterIdLst>
  <p:notesMasterIdLst>
    <p:notesMasterId r:id="rId43"/>
  </p:notesMasterIdLst>
  <p:sldIdLst>
    <p:sldId id="386" r:id="rId6"/>
    <p:sldId id="257" r:id="rId7"/>
    <p:sldId id="259" r:id="rId8"/>
    <p:sldId id="307" r:id="rId9"/>
    <p:sldId id="309" r:id="rId10"/>
    <p:sldId id="314" r:id="rId11"/>
    <p:sldId id="313" r:id="rId12"/>
    <p:sldId id="315" r:id="rId13"/>
    <p:sldId id="318" r:id="rId14"/>
    <p:sldId id="319" r:id="rId15"/>
    <p:sldId id="323" r:id="rId16"/>
    <p:sldId id="324" r:id="rId17"/>
    <p:sldId id="325" r:id="rId18"/>
    <p:sldId id="326" r:id="rId19"/>
    <p:sldId id="330" r:id="rId20"/>
    <p:sldId id="333" r:id="rId21"/>
    <p:sldId id="337" r:id="rId22"/>
    <p:sldId id="342" r:id="rId23"/>
    <p:sldId id="340" r:id="rId24"/>
    <p:sldId id="341" r:id="rId25"/>
    <p:sldId id="345" r:id="rId26"/>
    <p:sldId id="349" r:id="rId27"/>
    <p:sldId id="350" r:id="rId28"/>
    <p:sldId id="352" r:id="rId29"/>
    <p:sldId id="376" r:id="rId30"/>
    <p:sldId id="359" r:id="rId31"/>
    <p:sldId id="362" r:id="rId32"/>
    <p:sldId id="367" r:id="rId33"/>
    <p:sldId id="368" r:id="rId34"/>
    <p:sldId id="335" r:id="rId35"/>
    <p:sldId id="389" r:id="rId36"/>
    <p:sldId id="354" r:id="rId37"/>
    <p:sldId id="369" r:id="rId38"/>
    <p:sldId id="371" r:id="rId39"/>
    <p:sldId id="372" r:id="rId40"/>
    <p:sldId id="387" r:id="rId41"/>
    <p:sldId id="388" r:id="rId4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08">
          <p15:clr>
            <a:srgbClr val="A4A3A4"/>
          </p15:clr>
        </p15:guide>
        <p15:guide id="2" pos="384">
          <p15:clr>
            <a:srgbClr val="A4A3A4"/>
          </p15:clr>
        </p15:guide>
        <p15:guide id="3" pos="7232">
          <p15:clr>
            <a:srgbClr val="A4A3A4"/>
          </p15:clr>
        </p15:guide>
        <p15:guide id="4" pos="40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6"/>
    <a:srgbClr val="000066"/>
    <a:srgbClr val="0000CC"/>
    <a:srgbClr val="0000FF"/>
    <a:srgbClr val="DECD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96" autoAdjust="0"/>
    <p:restoredTop sz="90603" autoAdjust="0"/>
  </p:normalViewPr>
  <p:slideViewPr>
    <p:cSldViewPr>
      <p:cViewPr varScale="1">
        <p:scale>
          <a:sx n="65" d="100"/>
          <a:sy n="65" d="100"/>
        </p:scale>
        <p:origin x="1164" y="60"/>
      </p:cViewPr>
      <p:guideLst>
        <p:guide orient="horz" pos="1008"/>
        <p:guide pos="384"/>
        <p:guide pos="7232"/>
        <p:guide pos="400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1689C5ED-87B7-4B00-90EE-1787018E7206}" type="datetimeFigureOut">
              <a:rPr lang="en-US"/>
              <a:pPr>
                <a:defRPr/>
              </a:pPr>
              <a:t>7/3/2014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16BFD7B-3B24-4E8B-8215-57D9EA480EB1}" type="slidenum">
              <a:rPr lang="en-US"/>
              <a:pPr>
                <a:defRPr/>
              </a:pPr>
              <a:t>‹#›</a:t>
            </a:fld>
            <a:endParaRPr lang="en-US"/>
          </a:p>
        </p:txBody>
      </p:sp>
    </p:spTree>
    <p:extLst>
      <p:ext uri="{BB962C8B-B14F-4D97-AF65-F5344CB8AC3E}">
        <p14:creationId xmlns:p14="http://schemas.microsoft.com/office/powerpoint/2010/main" val="22837177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EB25E0D-05AE-49AB-B837-E200F2009589}" type="slidenum">
              <a:rPr lang="en-US" altLang="en-US" smtClean="0">
                <a:solidFill>
                  <a:srgbClr val="000000"/>
                </a:solidFill>
                <a:latin typeface="Arial" panose="020B0604020202020204" pitchFamily="34" charset="0"/>
              </a:rPr>
              <a:pPr>
                <a:spcBef>
                  <a:spcPct val="0"/>
                </a:spcBef>
              </a:pPr>
              <a:t>1</a:t>
            </a:fld>
            <a:endParaRPr lang="en-US" altLang="en-US" smtClean="0">
              <a:solidFill>
                <a:srgbClr val="000000"/>
              </a:solidFill>
              <a:latin typeface="Arial" panose="020B0604020202020204" pitchFamily="34" charset="0"/>
            </a:endParaRPr>
          </a:p>
        </p:txBody>
      </p:sp>
    </p:spTree>
    <p:extLst>
      <p:ext uri="{BB962C8B-B14F-4D97-AF65-F5344CB8AC3E}">
        <p14:creationId xmlns:p14="http://schemas.microsoft.com/office/powerpoint/2010/main" val="4105213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This should also be a review for the 70-642.</a:t>
            </a:r>
          </a:p>
          <a:p>
            <a:pPr eaLnBrk="1" hangingPunct="1"/>
            <a:endParaRPr lang="en-US" altLang="en-US" smtClean="0"/>
          </a:p>
        </p:txBody>
      </p:sp>
    </p:spTree>
    <p:extLst>
      <p:ext uri="{BB962C8B-B14F-4D97-AF65-F5344CB8AC3E}">
        <p14:creationId xmlns:p14="http://schemas.microsoft.com/office/powerpoint/2010/main" val="466904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Another one is WINS</a:t>
            </a:r>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4D0EDF2-77C1-464C-A2D1-73E3728D46E5}" type="slidenum">
              <a:rPr lang="en-US" altLang="en-US" smtClean="0">
                <a:latin typeface="Arial" panose="020B0604020202020204" pitchFamily="34" charset="0"/>
              </a:rPr>
              <a:pPr>
                <a:spcBef>
                  <a:spcPct val="0"/>
                </a:spcBef>
              </a:pPr>
              <a:t>3</a:t>
            </a:fld>
            <a:endParaRPr lang="en-US" altLang="en-US" smtClean="0">
              <a:latin typeface="Arial" panose="020B0604020202020204" pitchFamily="34" charset="0"/>
            </a:endParaRPr>
          </a:p>
        </p:txBody>
      </p:sp>
    </p:spTree>
    <p:extLst>
      <p:ext uri="{BB962C8B-B14F-4D97-AF65-F5344CB8AC3E}">
        <p14:creationId xmlns:p14="http://schemas.microsoft.com/office/powerpoint/2010/main" val="3635986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Early TCP/IP networks used hosts (used with domain/hostnames associated with DNS) and lmhost (used with NetBIOS/computer names associated with WINS) files, which were text files that would list a name and its associated IP address. H</a:t>
            </a:r>
          </a:p>
          <a:p>
            <a:r>
              <a:rPr lang="en-US" altLang="en-US" smtClean="0"/>
              <a:t>owever, with this system, every time you needed to add or modify a name and address, you would have to go to every computer and modify the text file each required to know the address. </a:t>
            </a:r>
          </a:p>
          <a:p>
            <a:r>
              <a:rPr lang="en-US" altLang="en-US" smtClean="0"/>
              <a:t>For larger organizations, this was incredibly inefficient, because it might involve hundreds if not thousands of computers and extremely large text files.</a:t>
            </a:r>
          </a:p>
          <a:p>
            <a:r>
              <a:rPr lang="en-US" altLang="en-US" smtClean="0"/>
              <a:t>Although the hosts and lmhosts files are considered legacy methods for naming resolution, they still come in handy when troubleshooting or testing because name resolution will check these two files before contacting naming servers. </a:t>
            </a:r>
          </a:p>
          <a:p>
            <a:endParaRPr lang="en-US" altLang="en-US" smtClean="0"/>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C9336BF-A50F-4B29-A093-85C9508851AE}" type="slidenum">
              <a:rPr lang="en-US" altLang="en-US" smtClean="0">
                <a:latin typeface="Arial" panose="020B0604020202020204" pitchFamily="34" charset="0"/>
              </a:rPr>
              <a:pPr>
                <a:spcBef>
                  <a:spcPct val="0"/>
                </a:spcBef>
              </a:pPr>
              <a:t>4</a:t>
            </a:fld>
            <a:endParaRPr lang="en-US" altLang="en-US" smtClean="0">
              <a:latin typeface="Arial" panose="020B0604020202020204" pitchFamily="34" charset="0"/>
            </a:endParaRPr>
          </a:p>
        </p:txBody>
      </p:sp>
    </p:spTree>
    <p:extLst>
      <p:ext uri="{BB962C8B-B14F-4D97-AF65-F5344CB8AC3E}">
        <p14:creationId xmlns:p14="http://schemas.microsoft.com/office/powerpoint/2010/main" val="194235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Containers are objects that can store or hold other objects. </a:t>
            </a:r>
          </a:p>
          <a:p>
            <a:pPr lvl="1"/>
            <a:r>
              <a:rPr lang="en-US" altLang="en-US" smtClean="0"/>
              <a:t>They include the forest, tree, domain, and organizational unit. </a:t>
            </a:r>
          </a:p>
          <a:p>
            <a:r>
              <a:rPr lang="en-US" altLang="en-US" smtClean="0"/>
              <a:t>To help manage your objects, you can delegate authority to a container, particularly the domain or organizational unit.</a:t>
            </a:r>
          </a:p>
          <a:p>
            <a:endParaRPr lang="en-US" altLang="en-US" smtClean="0"/>
          </a:p>
          <a:p>
            <a:endParaRPr lang="en-US" altLang="en-US" smtClean="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20ACF7-5A57-42E1-9FEC-B10C9E4C7B10}" type="slidenum">
              <a:rPr lang="en-US" altLang="en-US" smtClean="0">
                <a:latin typeface="Arial" panose="020B0604020202020204" pitchFamily="34" charset="0"/>
              </a:rPr>
              <a:pPr>
                <a:spcBef>
                  <a:spcPct val="0"/>
                </a:spcBef>
              </a:pPr>
              <a:t>22</a:t>
            </a:fld>
            <a:endParaRPr lang="en-US" altLang="en-US" smtClean="0">
              <a:latin typeface="Arial" panose="020B0604020202020204" pitchFamily="34" charset="0"/>
            </a:endParaRPr>
          </a:p>
        </p:txBody>
      </p:sp>
    </p:spTree>
    <p:extLst>
      <p:ext uri="{BB962C8B-B14F-4D97-AF65-F5344CB8AC3E}">
        <p14:creationId xmlns:p14="http://schemas.microsoft.com/office/powerpoint/2010/main" val="186990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5540"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mtClean="0">
              <a:solidFill>
                <a:srgbClr val="000000"/>
              </a:solidFill>
            </a:endParaRPr>
          </a:p>
        </p:txBody>
      </p:sp>
      <p:sp>
        <p:nvSpPr>
          <p:cNvPr id="65541" name="Date Placeholder 4"/>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4DF21F-7D54-4193-9992-FAEACD9C59B5}" type="datetime8">
              <a:rPr lang="en-US" altLang="en-US" smtClean="0">
                <a:solidFill>
                  <a:srgbClr val="000000"/>
                </a:solidFill>
              </a:rPr>
              <a:pPr/>
              <a:t>7/3/2014 8:00 AM</a:t>
            </a:fld>
            <a:endParaRPr lang="en-US" altLang="en-US" smtClean="0">
              <a:solidFill>
                <a:srgbClr val="000000"/>
              </a:solidFill>
            </a:endParaRPr>
          </a:p>
        </p:txBody>
      </p:sp>
      <p:sp>
        <p:nvSpPr>
          <p:cNvPr id="65542"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2CD2FD2-7147-495E-A4D3-29D6137D5D98}" type="slidenum">
              <a:rPr lang="en-US" altLang="en-US" smtClean="0">
                <a:solidFill>
                  <a:srgbClr val="000000"/>
                </a:solidFill>
              </a:rPr>
              <a:pPr/>
              <a:t>37</a:t>
            </a:fld>
            <a:endParaRPr lang="en-US" altLang="en-US" smtClean="0">
              <a:solidFill>
                <a:srgbClr val="000000"/>
              </a:solidFill>
            </a:endParaRPr>
          </a:p>
        </p:txBody>
      </p:sp>
      <p:sp>
        <p:nvSpPr>
          <p:cNvPr id="65543" name="Footer Placeholder 3"/>
          <p:cNvSpPr>
            <a:spLocks noGrp="1"/>
          </p:cNvSpPr>
          <p:nvPr>
            <p:ph type="ftr" sz="quarter" idx="4"/>
          </p:nvPr>
        </p:nvSpPr>
        <p:spPr bwMode="auto">
          <a:xfrm>
            <a:off x="0" y="8685213"/>
            <a:ext cx="6248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500" smtClean="0">
                <a:solidFill>
                  <a:srgbClr val="000000"/>
                </a:solidFill>
                <a:latin typeface="Segoe UI" panose="020B0502040204020203" pitchFamily="34" charset="0"/>
              </a:rPr>
              <a:t>© 2010 Microsoft Corporation. All rights reserved. Microsoft, Windows, Windows Vista and other product names are or may be registered trademarks and/or trademarks in the U.S. and/or other countries.</a:t>
            </a:r>
          </a:p>
          <a:p>
            <a:r>
              <a:rPr lang="en-US" altLang="en-US" sz="500" smtClean="0">
                <a:solidFill>
                  <a:srgbClr val="000000"/>
                </a:solidFill>
                <a:latin typeface="Segoe UI" panose="020B0502040204020203"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ltLang="en-US" sz="500" smtClean="0">
                <a:solidFill>
                  <a:srgbClr val="000000"/>
                </a:solidFill>
                <a:latin typeface="Segoe UI" panose="020B0502040204020203" pitchFamily="34" charset="0"/>
              </a:rPr>
            </a:br>
            <a:r>
              <a:rPr lang="en-US" altLang="en-US" sz="500" smtClean="0">
                <a:solidFill>
                  <a:srgbClr val="000000"/>
                </a:solidFill>
                <a:latin typeface="Segoe UI" panose="020B0502040204020203" pitchFamily="34" charset="0"/>
              </a:rPr>
              <a:t>MICROSOFT MAKES NO WARRANTIES, EXPRESS, IMPLIED OR STATUTORY, AS TO THE INFORMATION IN THIS PRESENTATION.</a:t>
            </a:r>
          </a:p>
        </p:txBody>
      </p:sp>
    </p:spTree>
    <p:extLst>
      <p:ext uri="{BB962C8B-B14F-4D97-AF65-F5344CB8AC3E}">
        <p14:creationId xmlns:p14="http://schemas.microsoft.com/office/powerpoint/2010/main" val="3419059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3"/>
          <p:cNvSpPr>
            <a:spLocks noGrp="1"/>
          </p:cNvSpPr>
          <p:nvPr>
            <p:ph type="body" sz="quarter" idx="10"/>
          </p:nvPr>
        </p:nvSpPr>
        <p:spPr>
          <a:xfrm>
            <a:off x="269239" y="1189177"/>
            <a:ext cx="11653523" cy="1274195"/>
          </a:xfrm>
        </p:spPr>
        <p:txBody>
          <a:bodyPr/>
          <a:lstStyle>
            <a:lvl1pPr marL="342900"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sz="2000">
                <a:solidFill>
                  <a:schemeClr val="bg1"/>
                </a:solidFill>
              </a:defRPr>
            </a:lvl1pPr>
            <a:lvl2pPr marL="59503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sz="1800">
                <a:latin typeface="+mj-lt"/>
              </a:defRPr>
            </a:lvl2pPr>
            <a:lvl3pPr marL="76312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sz="1600">
                <a:latin typeface="+mj-lt"/>
              </a:defRPr>
            </a:lvl3pPr>
            <a:lvl4pPr marL="87406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sz="1400">
                <a:latin typeface="+mj-lt"/>
              </a:defRPr>
            </a:lvl4pPr>
            <a:lvl5pPr marL="104215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sz="1400">
                <a:latin typeface="+mj-lt"/>
              </a:defRPr>
            </a:lvl5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p:txBody>
      </p:sp>
      <p:sp>
        <p:nvSpPr>
          <p:cNvPr id="9" name="Title 5"/>
          <p:cNvSpPr>
            <a:spLocks noGrp="1"/>
          </p:cNvSpPr>
          <p:nvPr>
            <p:ph type="title"/>
          </p:nvPr>
        </p:nvSpPr>
        <p:spPr>
          <a:xfrm>
            <a:off x="269875" y="288925"/>
            <a:ext cx="11655425" cy="900113"/>
          </a:xfrm>
        </p:spPr>
        <p:txBody>
          <a:bodyPr/>
          <a:lstStyle>
            <a:lvl1pPr>
              <a:defRPr lang="en-US" sz="5400" b="0" kern="1200" cap="none" spc="-75" baseline="0" dirty="0">
                <a:ln w="3175">
                  <a:noFill/>
                </a:ln>
                <a:solidFill>
                  <a:schemeClr val="bg1">
                    <a:lumMod val="95000"/>
                  </a:schemeClr>
                </a:solidFill>
                <a:effectLst/>
                <a:latin typeface="+mj-lt"/>
                <a:ea typeface="+mn-ea"/>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96142913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914400"/>
          </a:xfrm>
        </p:spPr>
        <p:txBody>
          <a:bodyPr/>
          <a:lstStyle>
            <a:lvl1pPr>
              <a:defRPr lang="en-US" sz="3900" b="0" kern="1200" cap="none" spc="-75" baseline="0" dirty="0">
                <a:ln w="3175">
                  <a:noFill/>
                </a:ln>
                <a:solidFill>
                  <a:srgbClr val="F2F2F2"/>
                </a:solidFill>
                <a:effectLst/>
                <a:latin typeface="+mj-lt"/>
                <a:ea typeface="+mn-ea"/>
                <a:cs typeface="Segoe UI" pitchFamily="34" charset="0"/>
              </a:defRPr>
            </a:lvl1pPr>
          </a:lstStyle>
          <a:p>
            <a:r>
              <a:rPr lang="en-US" dirty="0" smtClean="0"/>
              <a:t>Click to edit Master title style</a:t>
            </a:r>
            <a:endParaRPr lang="en-US" dirty="0"/>
          </a:p>
        </p:txBody>
      </p:sp>
      <p:sp>
        <p:nvSpPr>
          <p:cNvPr id="3" name="Table Placeholder 2"/>
          <p:cNvSpPr>
            <a:spLocks noGrp="1"/>
          </p:cNvSpPr>
          <p:nvPr>
            <p:ph type="tbl" idx="1"/>
          </p:nvPr>
        </p:nvSpPr>
        <p:spPr>
          <a:xfrm>
            <a:off x="609600" y="1447800"/>
            <a:ext cx="10972800" cy="591957"/>
          </a:xfrm>
        </p:spPr>
        <p:txBody>
          <a:bodyPr/>
          <a:lstStyle>
            <a:lvl1pPr>
              <a:defRPr kumimoji="0" lang="en-US" sz="2900" b="0" i="0" u="none" strike="noStrike" kern="1200" cap="none" spc="0" normalizeH="0" baseline="0" noProof="0" dirty="0" smtClean="0">
                <a:ln>
                  <a:noFill/>
                </a:ln>
                <a:solidFill>
                  <a:srgbClr val="F2F2F2"/>
                </a:solidFill>
                <a:effectLst/>
                <a:uLnTx/>
                <a:uFillTx/>
                <a:latin typeface="+mj-lt"/>
                <a:ea typeface="+mn-ea"/>
                <a:cs typeface="+mn-cs"/>
              </a:defRPr>
            </a:lvl1pPr>
          </a:lstStyle>
          <a:p>
            <a:pPr lvl="0"/>
            <a:endParaRPr lang="en-US" noProof="0" dirty="0" smtClean="0"/>
          </a:p>
        </p:txBody>
      </p:sp>
      <p:sp>
        <p:nvSpPr>
          <p:cNvPr id="4" name="Date Placeholder 3"/>
          <p:cNvSpPr>
            <a:spLocks noGrp="1" noChangeArrowheads="1"/>
          </p:cNvSpPr>
          <p:nvPr>
            <p:ph type="dt" sz="half" idx="10"/>
          </p:nvPr>
        </p:nvSpPr>
        <p:spPr>
          <a:xfrm>
            <a:off x="609600" y="6245225"/>
            <a:ext cx="2844800" cy="476250"/>
          </a:xfrm>
          <a:prstGeom prst="rect">
            <a:avLst/>
          </a:prstGeom>
        </p:spPr>
        <p:txBody>
          <a:bodyPr/>
          <a:lstStyle>
            <a:lvl1pPr algn="r" eaLnBrk="1" hangingPunct="1">
              <a:defRPr smtClean="0">
                <a:solidFill>
                  <a:schemeClr val="bg1">
                    <a:lumMod val="95000"/>
                  </a:schemeClr>
                </a:solidFill>
              </a:defRPr>
            </a:lvl1pPr>
          </a:lstStyle>
          <a:p>
            <a:pPr>
              <a:defRPr/>
            </a:pPr>
            <a:fld id="{D4801EBC-728E-4EAE-930A-75481FCDE7F0}" type="datetimeFigureOut">
              <a:rPr lang="en-US"/>
              <a:pPr>
                <a:defRPr/>
              </a:pPr>
              <a:t>7/3/2014</a:t>
            </a:fld>
            <a:endParaRPr lang="en-US" dirty="0"/>
          </a:p>
        </p:txBody>
      </p:sp>
      <p:sp>
        <p:nvSpPr>
          <p:cNvPr id="5" name="Footer Placeholder 4"/>
          <p:cNvSpPr>
            <a:spLocks noGrp="1" noChangeArrowheads="1"/>
          </p:cNvSpPr>
          <p:nvPr>
            <p:ph type="ftr" sz="quarter" idx="11"/>
          </p:nvPr>
        </p:nvSpPr>
        <p:spPr>
          <a:xfrm>
            <a:off x="4165600" y="6245225"/>
            <a:ext cx="3860800" cy="476250"/>
          </a:xfrm>
          <a:prstGeom prst="rect">
            <a:avLst/>
          </a:prstGeom>
        </p:spPr>
        <p:txBody>
          <a:bodyPr/>
          <a:lstStyle>
            <a:lvl1pPr algn="r" eaLnBrk="1" hangingPunct="1">
              <a:defRPr dirty="0">
                <a:solidFill>
                  <a:schemeClr val="bg1">
                    <a:lumMod val="95000"/>
                  </a:schemeClr>
                </a:solidFill>
              </a:defRPr>
            </a:lvl1pPr>
          </a:lstStyle>
          <a:p>
            <a:pPr>
              <a:defRPr/>
            </a:pPr>
            <a:endParaRPr lang="en-US"/>
          </a:p>
        </p:txBody>
      </p:sp>
      <p:sp>
        <p:nvSpPr>
          <p:cNvPr id="6" name="Slide Number Placeholder 5"/>
          <p:cNvSpPr>
            <a:spLocks noGrp="1" noChangeArrowheads="1"/>
          </p:cNvSpPr>
          <p:nvPr>
            <p:ph type="sldNum" sz="quarter" idx="12"/>
          </p:nvPr>
        </p:nvSpPr>
        <p:spPr>
          <a:xfrm>
            <a:off x="8737600" y="6245225"/>
            <a:ext cx="2844800" cy="476250"/>
          </a:xfrm>
          <a:prstGeom prst="rect">
            <a:avLst/>
          </a:prstGeom>
        </p:spPr>
        <p:txBody>
          <a:bodyPr/>
          <a:lstStyle>
            <a:lvl1pPr algn="r" eaLnBrk="1" hangingPunct="1">
              <a:defRPr smtClean="0">
                <a:solidFill>
                  <a:schemeClr val="bg1">
                    <a:lumMod val="95000"/>
                  </a:schemeClr>
                </a:solidFill>
              </a:defRPr>
            </a:lvl1pPr>
          </a:lstStyle>
          <a:p>
            <a:pPr>
              <a:defRPr/>
            </a:pPr>
            <a:fld id="{8AE313DD-1C82-4E00-8ED2-6EE6A9DB1BAA}" type="slidenum">
              <a:rPr lang="en-US"/>
              <a:pPr>
                <a:defRPr/>
              </a:pPr>
              <a:t>‹#›</a:t>
            </a:fld>
            <a:endParaRPr lang="en-US" dirty="0"/>
          </a:p>
        </p:txBody>
      </p:sp>
    </p:spTree>
    <p:extLst>
      <p:ext uri="{BB962C8B-B14F-4D97-AF65-F5344CB8AC3E}">
        <p14:creationId xmlns:p14="http://schemas.microsoft.com/office/powerpoint/2010/main" val="297904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591957"/>
          </a:xfrm>
        </p:spPr>
        <p:txBody>
          <a:bodyPr/>
          <a:lstStyle>
            <a:lvl1pPr marL="0" indent="0" algn="ctr">
              <a:buNone/>
              <a:defRPr>
                <a:solidFill>
                  <a:schemeClr val="bg1">
                    <a:lumMod val="95000"/>
                  </a:schemeClr>
                </a:solidFill>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dirty="0" smtClean="0"/>
              <a:t>Click to edit Master subtitle style</a:t>
            </a:r>
            <a:endParaRPr lang="en-US" dirty="0"/>
          </a:p>
        </p:txBody>
      </p:sp>
      <p:sp>
        <p:nvSpPr>
          <p:cNvPr id="4" name="Date Placeholder 3"/>
          <p:cNvSpPr>
            <a:spLocks noGrp="1" noChangeArrowheads="1"/>
          </p:cNvSpPr>
          <p:nvPr>
            <p:ph type="dt" sz="half" idx="10"/>
          </p:nvPr>
        </p:nvSpPr>
        <p:spPr>
          <a:xfrm>
            <a:off x="609600" y="6245225"/>
            <a:ext cx="2844800" cy="476250"/>
          </a:xfrm>
          <a:prstGeom prst="rect">
            <a:avLst/>
          </a:prstGeom>
        </p:spPr>
        <p:txBody>
          <a:bodyPr/>
          <a:lstStyle>
            <a:lvl1pPr algn="r" eaLnBrk="1" hangingPunct="1">
              <a:defRPr smtClean="0">
                <a:solidFill>
                  <a:schemeClr val="bg1">
                    <a:lumMod val="95000"/>
                  </a:schemeClr>
                </a:solidFill>
              </a:defRPr>
            </a:lvl1pPr>
          </a:lstStyle>
          <a:p>
            <a:pPr>
              <a:defRPr/>
            </a:pPr>
            <a:fld id="{98331326-D24B-4A65-A24F-4FD31ECE32CC}" type="datetimeFigureOut">
              <a:rPr lang="en-US"/>
              <a:pPr>
                <a:defRPr/>
              </a:pPr>
              <a:t>7/3/2014</a:t>
            </a:fld>
            <a:endParaRPr lang="en-US" dirty="0"/>
          </a:p>
        </p:txBody>
      </p:sp>
      <p:sp>
        <p:nvSpPr>
          <p:cNvPr id="5" name="Footer Placeholder 4"/>
          <p:cNvSpPr>
            <a:spLocks noGrp="1" noChangeArrowheads="1"/>
          </p:cNvSpPr>
          <p:nvPr>
            <p:ph type="ftr" sz="quarter" idx="11"/>
          </p:nvPr>
        </p:nvSpPr>
        <p:spPr>
          <a:xfrm>
            <a:off x="4165600" y="6245225"/>
            <a:ext cx="3860800" cy="476250"/>
          </a:xfrm>
          <a:prstGeom prst="rect">
            <a:avLst/>
          </a:prstGeom>
        </p:spPr>
        <p:txBody>
          <a:bodyPr/>
          <a:lstStyle>
            <a:lvl1pPr algn="r" eaLnBrk="1" hangingPunct="1">
              <a:defRPr dirty="0">
                <a:solidFill>
                  <a:schemeClr val="bg1">
                    <a:lumMod val="95000"/>
                  </a:schemeClr>
                </a:solidFill>
              </a:defRPr>
            </a:lvl1pPr>
          </a:lstStyle>
          <a:p>
            <a:pPr>
              <a:defRPr/>
            </a:pPr>
            <a:endParaRPr lang="en-US"/>
          </a:p>
        </p:txBody>
      </p:sp>
      <p:sp>
        <p:nvSpPr>
          <p:cNvPr id="6" name="Slide Number Placeholder 5"/>
          <p:cNvSpPr>
            <a:spLocks noGrp="1" noChangeArrowheads="1"/>
          </p:cNvSpPr>
          <p:nvPr>
            <p:ph type="sldNum" sz="quarter" idx="12"/>
          </p:nvPr>
        </p:nvSpPr>
        <p:spPr>
          <a:xfrm>
            <a:off x="8737600" y="6245225"/>
            <a:ext cx="2844800" cy="476250"/>
          </a:xfrm>
          <a:prstGeom prst="rect">
            <a:avLst/>
          </a:prstGeom>
        </p:spPr>
        <p:txBody>
          <a:bodyPr/>
          <a:lstStyle>
            <a:lvl1pPr algn="r" eaLnBrk="1" hangingPunct="1">
              <a:defRPr smtClean="0">
                <a:solidFill>
                  <a:schemeClr val="bg1">
                    <a:lumMod val="95000"/>
                  </a:schemeClr>
                </a:solidFill>
              </a:defRPr>
            </a:lvl1pPr>
          </a:lstStyle>
          <a:p>
            <a:pPr>
              <a:defRPr/>
            </a:pPr>
            <a:fld id="{87C1886B-87B5-42A2-B769-6536767F6B46}" type="slidenum">
              <a:rPr lang="en-US"/>
              <a:pPr>
                <a:defRPr/>
              </a:pPr>
              <a:t>‹#›</a:t>
            </a:fld>
            <a:endParaRPr lang="en-US" dirty="0"/>
          </a:p>
        </p:txBody>
      </p:sp>
    </p:spTree>
    <p:extLst>
      <p:ext uri="{BB962C8B-B14F-4D97-AF65-F5344CB8AC3E}">
        <p14:creationId xmlns:p14="http://schemas.microsoft.com/office/powerpoint/2010/main" val="2865258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587999"/>
          </a:xfrm>
        </p:spPr>
        <p:txBody>
          <a:bodyPr/>
          <a:lstStyle>
            <a:lvl1pPr marL="334963" marR="0" indent="-334963"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solidFill>
                  <a:schemeClr val="bg1">
                    <a:lumMod val="95000"/>
                  </a:schemeClr>
                </a:solidFill>
              </a:defRPr>
            </a:lvl1pPr>
            <a:lvl2pPr marL="571500" marR="0" indent="-2365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solidFill>
                  <a:schemeClr val="bg1">
                    <a:lumMod val="95000"/>
                  </a:schemeClr>
                </a:solidFill>
              </a:defRPr>
            </a:lvl2pPr>
            <a:lvl3pPr marL="784225"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solidFill>
                  <a:schemeClr val="bg1">
                    <a:lumMod val="95000"/>
                  </a:schemeClr>
                </a:solidFill>
              </a:defRPr>
            </a:lvl3pPr>
            <a:lvl4pPr marL="1008063"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solidFill>
                  <a:schemeClr val="bg1">
                    <a:lumMod val="95000"/>
                  </a:schemeClr>
                </a:solidFill>
              </a:defRPr>
            </a:lvl4pPr>
            <a:lvl5pPr marL="1231900"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solidFill>
                  <a:schemeClr val="bg1">
                    <a:lumMod val="95000"/>
                  </a:schemeClr>
                </a:solidFill>
              </a:defRPr>
            </a:lvl5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Title 5"/>
          <p:cNvSpPr>
            <a:spLocks noGrp="1"/>
          </p:cNvSpPr>
          <p:nvPr>
            <p:ph type="title"/>
          </p:nvPr>
        </p:nvSpPr>
        <p:spPr/>
        <p:txBody>
          <a:bodyPr/>
          <a:lstStyle>
            <a:lvl1pPr>
              <a:defRPr>
                <a:solidFill>
                  <a:schemeClr val="bg1">
                    <a:lumMod val="95000"/>
                  </a:schemeClr>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79326456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2C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875" y="288925"/>
            <a:ext cx="11655425" cy="900113"/>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69875" y="1189038"/>
            <a:ext cx="11652250" cy="1587500"/>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4" r:id="rId4"/>
  </p:sldLayoutIdLst>
  <p:transition>
    <p:fade/>
  </p:transition>
  <p:timing>
    <p:tnLst>
      <p:par>
        <p:cTn id="1" dur="indefinite" restart="never" nodeType="tmRoot"/>
      </p:par>
    </p:tnLst>
  </p:timing>
  <p:txStyles>
    <p:titleStyle>
      <a:lvl1pPr algn="l" defTabSz="685800" rtl="0" fontAlgn="base">
        <a:lnSpc>
          <a:spcPct val="90000"/>
        </a:lnSpc>
        <a:spcBef>
          <a:spcPct val="0"/>
        </a:spcBef>
        <a:spcAft>
          <a:spcPct val="0"/>
        </a:spcAft>
        <a:defRPr lang="en-US" sz="3900" kern="1200" spc="-75" dirty="0">
          <a:ln w="3175">
            <a:noFill/>
          </a:ln>
          <a:solidFill>
            <a:srgbClr val="F2F2F2"/>
          </a:solidFill>
          <a:latin typeface="+mj-lt"/>
          <a:ea typeface="+mn-ea"/>
          <a:cs typeface="Segoe UI" pitchFamily="34" charset="0"/>
        </a:defRPr>
      </a:lvl1pPr>
      <a:lvl2pPr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2pPr>
      <a:lvl3pPr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3pPr>
      <a:lvl4pPr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4pPr>
      <a:lvl5pPr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5pPr>
      <a:lvl6pPr marL="457200"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6pPr>
      <a:lvl7pPr marL="914400"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7pPr>
      <a:lvl8pPr marL="1371600"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8pPr>
      <a:lvl9pPr marL="1828800" algn="l" defTabSz="685800" rtl="0" fontAlgn="base">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9pPr>
    </p:titleStyle>
    <p:bodyStyle>
      <a:lvl1pPr marL="250825" indent="-250825" algn="l" defTabSz="685800" rtl="0" fontAlgn="base">
        <a:lnSpc>
          <a:spcPct val="90000"/>
        </a:lnSpc>
        <a:spcBef>
          <a:spcPct val="20000"/>
        </a:spcBef>
        <a:spcAft>
          <a:spcPct val="0"/>
        </a:spcAft>
        <a:buSzPct val="90000"/>
        <a:buFont typeface="Arial" panose="020B0604020202020204" pitchFamily="34" charset="0"/>
        <a:buChar char="•"/>
        <a:defRPr sz="2900" kern="1200">
          <a:solidFill>
            <a:srgbClr val="F2F2F2"/>
          </a:solidFill>
          <a:latin typeface="+mj-lt"/>
          <a:ea typeface="+mn-ea"/>
          <a:cs typeface="+mn-cs"/>
        </a:defRPr>
      </a:lvl1pPr>
      <a:lvl2pPr marL="428625" indent="-176213" algn="l" defTabSz="685800" rtl="0" fontAlgn="base">
        <a:lnSpc>
          <a:spcPct val="90000"/>
        </a:lnSpc>
        <a:spcBef>
          <a:spcPct val="20000"/>
        </a:spcBef>
        <a:spcAft>
          <a:spcPct val="0"/>
        </a:spcAft>
        <a:buSzPct val="90000"/>
        <a:buFont typeface="Arial" panose="020B0604020202020204" pitchFamily="34" charset="0"/>
        <a:buChar char="•"/>
        <a:defRPr sz="1700" kern="1200">
          <a:solidFill>
            <a:srgbClr val="F2F2F2"/>
          </a:solidFill>
          <a:latin typeface="+mn-lt"/>
          <a:ea typeface="+mn-ea"/>
          <a:cs typeface="+mn-cs"/>
        </a:defRPr>
      </a:lvl2pPr>
      <a:lvl3pPr marL="587375" indent="-166688" algn="l" defTabSz="685800" rtl="0" fontAlgn="base">
        <a:lnSpc>
          <a:spcPct val="90000"/>
        </a:lnSpc>
        <a:spcBef>
          <a:spcPct val="20000"/>
        </a:spcBef>
        <a:spcAft>
          <a:spcPct val="0"/>
        </a:spcAft>
        <a:buSzPct val="90000"/>
        <a:buFont typeface="Arial" panose="020B0604020202020204" pitchFamily="34" charset="0"/>
        <a:buChar char="•"/>
        <a:defRPr sz="1400" kern="1200">
          <a:solidFill>
            <a:srgbClr val="F2F2F2"/>
          </a:solidFill>
          <a:latin typeface="+mn-lt"/>
          <a:ea typeface="+mn-ea"/>
          <a:cs typeface="+mn-cs"/>
        </a:defRPr>
      </a:lvl3pPr>
      <a:lvl4pPr marL="755650" indent="-166688" algn="l" defTabSz="685800" rtl="0" fontAlgn="base">
        <a:lnSpc>
          <a:spcPct val="90000"/>
        </a:lnSpc>
        <a:spcBef>
          <a:spcPct val="20000"/>
        </a:spcBef>
        <a:spcAft>
          <a:spcPct val="0"/>
        </a:spcAft>
        <a:buSzPct val="90000"/>
        <a:buFont typeface="Arial" panose="020B0604020202020204" pitchFamily="34" charset="0"/>
        <a:buChar char="•"/>
        <a:defRPr sz="1300" kern="1200">
          <a:solidFill>
            <a:srgbClr val="F2F2F2"/>
          </a:solidFill>
          <a:latin typeface="+mn-lt"/>
          <a:ea typeface="+mn-ea"/>
          <a:cs typeface="+mn-cs"/>
        </a:defRPr>
      </a:lvl4pPr>
      <a:lvl5pPr marL="923925" indent="-166688" algn="l" defTabSz="685800" rtl="0" fontAlgn="base">
        <a:lnSpc>
          <a:spcPct val="90000"/>
        </a:lnSpc>
        <a:spcBef>
          <a:spcPct val="20000"/>
        </a:spcBef>
        <a:spcAft>
          <a:spcPct val="0"/>
        </a:spcAft>
        <a:buSzPct val="90000"/>
        <a:buFont typeface="Arial" panose="020B0604020202020204" pitchFamily="34" charset="0"/>
        <a:buChar char="•"/>
        <a:defRPr sz="1300" kern="1200">
          <a:solidFill>
            <a:srgbClr val="F2F2F2"/>
          </a:soli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12192000" cy="1470025"/>
          </a:xfrm>
          <a:solidFill>
            <a:schemeClr val="accent2">
              <a:lumMod val="75000"/>
            </a:schemeClr>
          </a:solidFill>
        </p:spPr>
        <p:txBody>
          <a:bodyPr/>
          <a:lstStyle/>
          <a:p>
            <a:pPr algn="r" defTabSz="914367" fontAlgn="auto">
              <a:spcAft>
                <a:spcPts val="0"/>
              </a:spcAft>
              <a:defRPr/>
            </a:pPr>
            <a:r>
              <a:rPr sz="3200">
                <a:solidFill>
                  <a:schemeClr val="bg1">
                    <a:lumMod val="95000"/>
                  </a:schemeClr>
                </a:solidFill>
              </a:rPr>
              <a:t>Essential Services</a:t>
            </a:r>
            <a:endParaRPr sz="3150">
              <a:solidFill>
                <a:schemeClr val="bg1">
                  <a:lumMod val="95000"/>
                </a:schemeClr>
              </a:solidFill>
            </a:endParaRPr>
          </a:p>
        </p:txBody>
      </p:sp>
      <p:sp>
        <p:nvSpPr>
          <p:cNvPr id="6147" name="Subtitle 2"/>
          <p:cNvSpPr>
            <a:spLocks noGrp="1"/>
          </p:cNvSpPr>
          <p:nvPr>
            <p:ph type="subTitle" idx="1"/>
          </p:nvPr>
        </p:nvSpPr>
        <p:spPr bwMode="auto">
          <a:xfrm>
            <a:off x="3657600" y="3200400"/>
            <a:ext cx="8534400" cy="476250"/>
          </a:xfrm>
        </p:spPr>
        <p:txBody>
          <a:bodyPr numCol="1" anchor="t" anchorCtr="0" compatLnSpc="1">
            <a:prstTxWarp prst="textNoShape">
              <a:avLst/>
            </a:prstTxWarp>
          </a:bodyPr>
          <a:lstStyle/>
          <a:p>
            <a:pPr algn="r"/>
            <a:r>
              <a:rPr lang="en-US" altLang="en-US" sz="2100" smtClean="0">
                <a:solidFill>
                  <a:srgbClr val="F2F2F2"/>
                </a:solidFill>
              </a:rPr>
              <a:t>Module 5</a:t>
            </a:r>
          </a:p>
        </p:txBody>
      </p:sp>
      <p:pic>
        <p:nvPicPr>
          <p:cNvPr id="614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562600"/>
            <a:ext cx="28575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defTabSz="685845" fontAlgn="auto">
              <a:spcAft>
                <a:spcPts val="0"/>
              </a:spcAft>
              <a:defRPr/>
            </a:pPr>
            <a:r>
              <a:rPr/>
              <a:t>Objectives</a:t>
            </a:r>
          </a:p>
        </p:txBody>
      </p:sp>
      <p:sp>
        <p:nvSpPr>
          <p:cNvPr id="8195" name="Rectangle 22"/>
          <p:cNvSpPr>
            <a:spLocks noChangeArrowheads="1"/>
          </p:cNvSpPr>
          <p:nvPr/>
        </p:nvSpPr>
        <p:spPr bwMode="auto">
          <a:xfrm>
            <a:off x="1981200" y="14478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0000CC"/>
              </a:buClr>
              <a:buFontTx/>
              <a:buChar char="•"/>
            </a:pPr>
            <a:endParaRPr lang="en-US" altLang="en-US" sz="3200">
              <a:latin typeface="Franklin Gothic Book" panose="020B0503020102020204" pitchFamily="34" charset="0"/>
            </a:endParaRPr>
          </a:p>
        </p:txBody>
      </p:sp>
      <p:graphicFrame>
        <p:nvGraphicFramePr>
          <p:cNvPr id="6" name="Table 5"/>
          <p:cNvGraphicFramePr>
            <a:graphicFrameLocks noGrp="1"/>
          </p:cNvGraphicFramePr>
          <p:nvPr/>
        </p:nvGraphicFramePr>
        <p:xfrm>
          <a:off x="1981200" y="1458913"/>
          <a:ext cx="8153400" cy="4027649"/>
        </p:xfrm>
        <a:graphic>
          <a:graphicData uri="http://schemas.openxmlformats.org/drawingml/2006/table">
            <a:tbl>
              <a:tblPr firstRow="1" bandRow="1">
                <a:tableStyleId>{5C22544A-7EE6-4342-B048-85BDC9FD1C3A}</a:tableStyleId>
              </a:tblPr>
              <a:tblGrid>
                <a:gridCol w="2667000"/>
                <a:gridCol w="2743200"/>
                <a:gridCol w="2743200"/>
              </a:tblGrid>
              <a:tr h="640258">
                <a:tc>
                  <a:txBody>
                    <a:bodyPr/>
                    <a:lstStyle/>
                    <a:p>
                      <a:r>
                        <a:rPr lang="en-US" sz="1800" dirty="0" smtClean="0"/>
                        <a:t>Skills/Concepts</a:t>
                      </a:r>
                      <a:endParaRPr lang="en-US" sz="1800" dirty="0"/>
                    </a:p>
                  </a:txBody>
                  <a:tcPr marT="45731" marB="45731"/>
                </a:tc>
                <a:tc>
                  <a:txBody>
                    <a:bodyPr/>
                    <a:lstStyle/>
                    <a:p>
                      <a:r>
                        <a:rPr lang="en-US" sz="1800" dirty="0" smtClean="0"/>
                        <a:t>Objective Domain Description</a:t>
                      </a:r>
                      <a:endParaRPr lang="en-US" sz="1800" dirty="0"/>
                    </a:p>
                  </a:txBody>
                  <a:tcPr marT="45731" marB="45731"/>
                </a:tc>
                <a:tc>
                  <a:txBody>
                    <a:bodyPr/>
                    <a:lstStyle/>
                    <a:p>
                      <a:r>
                        <a:rPr lang="en-US" sz="1800" dirty="0" smtClean="0"/>
                        <a:t>Objective Domain Number</a:t>
                      </a:r>
                      <a:endParaRPr lang="en-US" sz="1800" dirty="0"/>
                    </a:p>
                  </a:txBody>
                  <a:tcPr marT="45731" marB="45731"/>
                </a:tc>
              </a:tr>
              <a:tr h="644096">
                <a:tc>
                  <a:txBody>
                    <a:bodyPr/>
                    <a:lstStyle/>
                    <a:p>
                      <a:r>
                        <a:rPr lang="en-US" sz="1800" dirty="0" smtClean="0"/>
                        <a:t>Looking</a:t>
                      </a:r>
                      <a:r>
                        <a:rPr lang="en-US" sz="1800" baseline="0" dirty="0" smtClean="0"/>
                        <a:t> at Objects</a:t>
                      </a:r>
                    </a:p>
                    <a:p>
                      <a:r>
                        <a:rPr lang="en-US" sz="1800" baseline="0" dirty="0" smtClean="0"/>
                        <a:t>Introducing Groups</a:t>
                      </a:r>
                      <a:endParaRPr lang="en-US" sz="1800" dirty="0"/>
                    </a:p>
                  </a:txBody>
                  <a:tcPr marT="45731" marB="45731"/>
                </a:tc>
                <a:tc>
                  <a:txBody>
                    <a:bodyPr/>
                    <a:lstStyle/>
                    <a:p>
                      <a:r>
                        <a:rPr lang="en-US" sz="1800" dirty="0" smtClean="0"/>
                        <a:t>Understand accounts and groups.</a:t>
                      </a:r>
                      <a:endParaRPr lang="en-US" sz="1800" dirty="0"/>
                    </a:p>
                  </a:txBody>
                  <a:tcPr marT="45731" marB="45731"/>
                </a:tc>
                <a:tc>
                  <a:txBody>
                    <a:bodyPr/>
                    <a:lstStyle/>
                    <a:p>
                      <a:r>
                        <a:rPr lang="en-US" sz="1800" dirty="0" smtClean="0"/>
                        <a:t>3.1</a:t>
                      </a:r>
                      <a:endParaRPr lang="en-US" sz="1800" dirty="0"/>
                    </a:p>
                  </a:txBody>
                  <a:tcPr marT="45731" marB="45731"/>
                </a:tc>
              </a:tr>
              <a:tr h="1188649">
                <a:tc>
                  <a:txBody>
                    <a:bodyPr/>
                    <a:lstStyle/>
                    <a:p>
                      <a:r>
                        <a:rPr lang="en-US" sz="1800" dirty="0" smtClean="0"/>
                        <a:t>Introducing Domains, Trees</a:t>
                      </a:r>
                      <a:r>
                        <a:rPr lang="en-US" sz="1800" baseline="0" dirty="0" smtClean="0"/>
                        <a:t> and Forests</a:t>
                      </a:r>
                    </a:p>
                    <a:p>
                      <a:r>
                        <a:rPr lang="en-US" sz="1800" baseline="0" dirty="0" smtClean="0"/>
                        <a:t>Introducing Organizational Units</a:t>
                      </a:r>
                      <a:endParaRPr lang="en-US" sz="1800" dirty="0"/>
                    </a:p>
                  </a:txBody>
                  <a:tcPr marT="45731" marB="45731"/>
                </a:tc>
                <a:tc>
                  <a:txBody>
                    <a:bodyPr/>
                    <a:lstStyle/>
                    <a:p>
                      <a:r>
                        <a:rPr lang="en-US" sz="1800" dirty="0" smtClean="0"/>
                        <a:t>Understand</a:t>
                      </a:r>
                      <a:r>
                        <a:rPr lang="en-US" sz="1800" baseline="0" dirty="0" smtClean="0"/>
                        <a:t> organizational units (OUs) and containers.</a:t>
                      </a:r>
                      <a:endParaRPr lang="en-US" sz="1800" dirty="0"/>
                    </a:p>
                  </a:txBody>
                  <a:tcPr marT="45731" marB="45731"/>
                </a:tc>
                <a:tc>
                  <a:txBody>
                    <a:bodyPr/>
                    <a:lstStyle/>
                    <a:p>
                      <a:r>
                        <a:rPr lang="en-US" sz="1800" dirty="0" smtClean="0"/>
                        <a:t>3.2</a:t>
                      </a:r>
                      <a:endParaRPr lang="en-US" sz="1800" dirty="0"/>
                    </a:p>
                  </a:txBody>
                  <a:tcPr marT="45731" marB="45731"/>
                </a:tc>
              </a:tr>
              <a:tr h="914353">
                <a:tc>
                  <a:txBody>
                    <a:bodyPr/>
                    <a:lstStyle/>
                    <a:p>
                      <a:r>
                        <a:rPr lang="en-US" sz="1800" dirty="0" smtClean="0"/>
                        <a:t>Introducing Directory Services with Active Directory</a:t>
                      </a:r>
                      <a:endParaRPr lang="en-US" sz="1800" dirty="0"/>
                    </a:p>
                  </a:txBody>
                  <a:tcPr marT="45731" marB="45731"/>
                </a:tc>
                <a:tc>
                  <a:txBody>
                    <a:bodyPr/>
                    <a:lstStyle/>
                    <a:p>
                      <a:r>
                        <a:rPr lang="en-US" sz="1800" dirty="0" smtClean="0"/>
                        <a:t>Understand Active Directory</a:t>
                      </a:r>
                      <a:r>
                        <a:rPr lang="en-US" sz="1800" baseline="0" dirty="0" smtClean="0"/>
                        <a:t> Infrastructure.</a:t>
                      </a:r>
                      <a:endParaRPr lang="en-US" sz="1800" dirty="0"/>
                    </a:p>
                  </a:txBody>
                  <a:tcPr marT="45731" marB="45731"/>
                </a:tc>
                <a:tc>
                  <a:txBody>
                    <a:bodyPr/>
                    <a:lstStyle/>
                    <a:p>
                      <a:r>
                        <a:rPr lang="en-US" sz="1800" dirty="0" smtClean="0"/>
                        <a:t>3.3</a:t>
                      </a:r>
                      <a:endParaRPr lang="en-US" sz="1800" dirty="0"/>
                    </a:p>
                  </a:txBody>
                  <a:tcPr marT="45731" marB="45731"/>
                </a:tc>
              </a:tr>
              <a:tr h="640131">
                <a:tc>
                  <a:txBody>
                    <a:bodyPr/>
                    <a:lstStyle/>
                    <a:p>
                      <a:r>
                        <a:rPr lang="en-US" sz="1800" dirty="0" smtClean="0"/>
                        <a:t>Introducing Group Policies</a:t>
                      </a:r>
                      <a:endParaRPr lang="en-US" sz="1800" dirty="0"/>
                    </a:p>
                  </a:txBody>
                  <a:tcPr marT="45731" marB="45731"/>
                </a:tc>
                <a:tc>
                  <a:txBody>
                    <a:bodyPr/>
                    <a:lstStyle/>
                    <a:p>
                      <a:r>
                        <a:rPr lang="en-US" sz="1800" dirty="0" smtClean="0"/>
                        <a:t>Understand group policy</a:t>
                      </a:r>
                      <a:r>
                        <a:rPr lang="en-US" sz="1800" baseline="0" dirty="0" smtClean="0"/>
                        <a:t>.</a:t>
                      </a:r>
                      <a:endParaRPr lang="en-US" sz="1800" dirty="0"/>
                    </a:p>
                  </a:txBody>
                  <a:tcPr marT="45731" marB="45731"/>
                </a:tc>
                <a:tc>
                  <a:txBody>
                    <a:bodyPr/>
                    <a:lstStyle/>
                    <a:p>
                      <a:r>
                        <a:rPr lang="en-US" sz="1800" dirty="0" smtClean="0"/>
                        <a:t>3.4</a:t>
                      </a:r>
                    </a:p>
                  </a:txBody>
                  <a:tcPr marT="45731" marB="45731"/>
                </a:tc>
              </a:tr>
            </a:tbl>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3" name="Rectangle 3"/>
          <p:cNvSpPr>
            <a:spLocks noGrp="1" noChangeArrowheads="1"/>
          </p:cNvSpPr>
          <p:nvPr>
            <p:ph type="body" sz="quarter" idx="10"/>
          </p:nvPr>
        </p:nvSpPr>
        <p:spPr/>
        <p:txBody>
          <a:bodyPr/>
          <a:lstStyle/>
          <a:p>
            <a:r>
              <a:rPr lang="en-US" altLang="en-US" dirty="0" smtClean="0"/>
              <a:t>In today’s networks, you assign logical addresses, such as with IP addressing. </a:t>
            </a:r>
          </a:p>
          <a:p>
            <a:r>
              <a:rPr lang="en-US" altLang="en-US" dirty="0" smtClean="0"/>
              <a:t>Unfortunately, these addresses tend to be hard to remember, especially in the case of newer, more complicated IPv6 addresses. </a:t>
            </a:r>
          </a:p>
          <a:p>
            <a:r>
              <a:rPr lang="en-US" altLang="en-US" dirty="0" smtClean="0"/>
              <a:t>Therefore, you need to use some form of naming service that will allow you to translate logical names, which are easier to remember, into logical addresses. </a:t>
            </a:r>
          </a:p>
          <a:p>
            <a:r>
              <a:rPr lang="en-US" altLang="en-US" dirty="0" smtClean="0"/>
              <a:t>The most common naming service is Domain Name System, or DNS.</a:t>
            </a:r>
          </a:p>
          <a:p>
            <a:endParaRPr lang="en-US" altLang="en-US" dirty="0" smtClean="0"/>
          </a:p>
        </p:txBody>
      </p:sp>
      <p:sp>
        <p:nvSpPr>
          <p:cNvPr id="224258" name="Rectangle 2"/>
          <p:cNvSpPr>
            <a:spLocks noGrp="1" noChangeArrowheads="1"/>
          </p:cNvSpPr>
          <p:nvPr>
            <p:ph type="title"/>
          </p:nvPr>
        </p:nvSpPr>
        <p:spPr/>
        <p:txBody>
          <a:bodyPr/>
          <a:lstStyle/>
          <a:p>
            <a:r>
              <a:rPr lang="en-US" dirty="0" smtClean="0"/>
              <a:t>Name Resolution</a:t>
            </a:r>
            <a:endParaRPr 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HOST File</a:t>
            </a:r>
            <a:endParaRPr 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9" name="Content Placeholder 2"/>
          <p:cNvSpPr>
            <a:spLocks noGrp="1"/>
          </p:cNvSpPr>
          <p:nvPr>
            <p:ph type="body" sz="quarter" idx="10"/>
          </p:nvPr>
        </p:nvSpPr>
        <p:spPr/>
        <p:txBody>
          <a:bodyPr/>
          <a:lstStyle/>
          <a:p>
            <a:r>
              <a:rPr lang="en-US" altLang="en-US" smtClean="0"/>
              <a:t>DNS is short for Domain Name System. </a:t>
            </a:r>
          </a:p>
          <a:p>
            <a:r>
              <a:rPr lang="en-US" altLang="en-US" smtClean="0"/>
              <a:t>DNS is a hierarchical client/server-based distributed database management system that translates domain/hosts names to IP addresses. </a:t>
            </a:r>
          </a:p>
          <a:p>
            <a:r>
              <a:rPr lang="en-US" altLang="en-US" smtClean="0"/>
              <a:t>The top of the tree is known as the root domain. </a:t>
            </a:r>
          </a:p>
          <a:p>
            <a:r>
              <a:rPr lang="en-US" altLang="en-US" smtClean="0"/>
              <a:t>Below the root domain, you will find top-level domains, such as .com, .edu, .org, and .net, as well as two-letter country codes, such as .uk, .ca, and .us. </a:t>
            </a:r>
          </a:p>
          <a:p>
            <a:endParaRPr lang="en-US" altLang="en-US" dirty="0" smtClean="0"/>
          </a:p>
        </p:txBody>
      </p:sp>
      <p:sp>
        <p:nvSpPr>
          <p:cNvPr id="2" name="Title 1"/>
          <p:cNvSpPr>
            <a:spLocks noGrp="1"/>
          </p:cNvSpPr>
          <p:nvPr>
            <p:ph type="title"/>
          </p:nvPr>
        </p:nvSpPr>
        <p:spPr/>
        <p:txBody>
          <a:bodyPr/>
          <a:lstStyle/>
          <a:p>
            <a:r>
              <a:rPr lang="en-US" smtClean="0"/>
              <a:t>Domain Name System</a:t>
            </a:r>
            <a:endParaRPr lang="en-US"/>
          </a:p>
        </p:txBody>
      </p:sp>
      <p:pic>
        <p:nvPicPr>
          <p:cNvPr id="10" name="Picture 9"/>
          <p:cNvPicPr>
            <a:picLocks noChangeAspect="1"/>
          </p:cNvPicPr>
          <p:nvPr/>
        </p:nvPicPr>
        <p:blipFill>
          <a:blip r:embed="rId2"/>
          <a:stretch>
            <a:fillRect/>
          </a:stretch>
        </p:blipFill>
        <p:spPr>
          <a:xfrm>
            <a:off x="3429000" y="3030533"/>
            <a:ext cx="6934200" cy="3751768"/>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5" name="Content Placeholder 2"/>
          <p:cNvSpPr>
            <a:spLocks noGrp="1"/>
          </p:cNvSpPr>
          <p:nvPr>
            <p:ph type="body" sz="quarter" idx="10"/>
          </p:nvPr>
        </p:nvSpPr>
        <p:spPr/>
        <p:txBody>
          <a:bodyPr/>
          <a:lstStyle/>
          <a:p>
            <a:r>
              <a:rPr lang="en-US" smtClean="0"/>
              <a:t>When you define DNS zones, you create the zone as either a forward lookup zone or a reverse lookup zone. </a:t>
            </a:r>
          </a:p>
          <a:p>
            <a:pPr lvl="1"/>
            <a:r>
              <a:rPr lang="en-US" smtClean="0"/>
              <a:t>The forward lookup zone (such as technet.microsoft.com or microsoft.com) has the majority of the resource records, including A and CNAME records, whereas the reverse lookup zone has PTR records. </a:t>
            </a:r>
          </a:p>
          <a:p>
            <a:pPr lvl="1"/>
            <a:r>
              <a:rPr lang="en-US" smtClean="0"/>
              <a:t>The reverse lookup zone is defined by reverse lookup format.</a:t>
            </a:r>
          </a:p>
          <a:p>
            <a:endParaRPr lang="en-US"/>
          </a:p>
        </p:txBody>
      </p:sp>
      <p:sp>
        <p:nvSpPr>
          <p:cNvPr id="2" name="Title 1"/>
          <p:cNvSpPr>
            <a:spLocks noGrp="1"/>
          </p:cNvSpPr>
          <p:nvPr>
            <p:ph type="title"/>
          </p:nvPr>
        </p:nvSpPr>
        <p:spPr/>
        <p:txBody>
          <a:bodyPr/>
          <a:lstStyle/>
          <a:p>
            <a:r>
              <a:rPr lang="en-US" smtClean="0"/>
              <a:t>DNS Zones Types</a:t>
            </a:r>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DNS</a:t>
            </a:r>
            <a:endParaRPr 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Content Placeholder 2"/>
          <p:cNvSpPr>
            <a:spLocks noGrp="1"/>
          </p:cNvSpPr>
          <p:nvPr>
            <p:ph type="body" sz="quarter" idx="10"/>
          </p:nvPr>
        </p:nvSpPr>
        <p:spPr>
          <a:xfrm>
            <a:off x="269239" y="1189177"/>
            <a:ext cx="11653523" cy="1415772"/>
          </a:xfrm>
        </p:spPr>
        <p:txBody>
          <a:bodyPr/>
          <a:lstStyle/>
          <a:p>
            <a:r>
              <a:rPr lang="en-US" altLang="en-US" dirty="0" smtClean="0"/>
              <a:t>DNS servers can use a mechanism called round-robin to distribute loads for network services. </a:t>
            </a:r>
          </a:p>
          <a:p>
            <a:r>
              <a:rPr lang="en-US" altLang="en-US" dirty="0" smtClean="0"/>
              <a:t>Round-robin rotates the order of resource records with the same name that point to different IP addresses. </a:t>
            </a:r>
          </a:p>
          <a:p>
            <a:endParaRPr lang="en-US" altLang="en-US" dirty="0" smtClean="0"/>
          </a:p>
        </p:txBody>
      </p:sp>
      <p:sp>
        <p:nvSpPr>
          <p:cNvPr id="2" name="Title 1"/>
          <p:cNvSpPr>
            <a:spLocks noGrp="1"/>
          </p:cNvSpPr>
          <p:nvPr>
            <p:ph type="title"/>
          </p:nvPr>
        </p:nvSpPr>
        <p:spPr/>
        <p:txBody>
          <a:bodyPr/>
          <a:lstStyle/>
          <a:p>
            <a:r>
              <a:rPr lang="en-US" smtClean="0"/>
              <a:t>DNS Round Robin</a:t>
            </a:r>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5" name="Content Placeholder 2"/>
          <p:cNvSpPr>
            <a:spLocks noGrp="1"/>
          </p:cNvSpPr>
          <p:nvPr>
            <p:ph type="body" sz="quarter" idx="10"/>
          </p:nvPr>
        </p:nvSpPr>
        <p:spPr/>
        <p:txBody>
          <a:bodyPr/>
          <a:lstStyle/>
          <a:p>
            <a:r>
              <a:rPr lang="en-US" altLang="en-US" smtClean="0"/>
              <a:t>DNS queries and DNS transfers between primary and secondary zones occur over TCP/UDP port 53. </a:t>
            </a:r>
          </a:p>
          <a:p>
            <a:r>
              <a:rPr lang="en-US" altLang="en-US" smtClean="0"/>
              <a:t>So, if you have any firewall between servers (including firewalls running on the servers), you will need to open port 53.</a:t>
            </a:r>
          </a:p>
          <a:p>
            <a:endParaRPr lang="en-US" altLang="en-US" smtClean="0"/>
          </a:p>
        </p:txBody>
      </p:sp>
      <p:sp>
        <p:nvSpPr>
          <p:cNvPr id="2" name="Title 1"/>
          <p:cNvSpPr>
            <a:spLocks noGrp="1"/>
          </p:cNvSpPr>
          <p:nvPr>
            <p:ph type="title"/>
          </p:nvPr>
        </p:nvSpPr>
        <p:spPr/>
        <p:txBody>
          <a:bodyPr/>
          <a:lstStyle/>
          <a:p>
            <a:r>
              <a:rPr lang="en-US" smtClean="0"/>
              <a:t>DNQ Queries and Transfers</a:t>
            </a:r>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9" name="Content Placeholder 2"/>
          <p:cNvSpPr>
            <a:spLocks noGrp="1"/>
          </p:cNvSpPr>
          <p:nvPr>
            <p:ph type="body" sz="quarter" idx="10"/>
          </p:nvPr>
        </p:nvSpPr>
        <p:spPr>
          <a:xfrm>
            <a:off x="269239" y="1189177"/>
            <a:ext cx="11653523" cy="2646878"/>
          </a:xfrm>
        </p:spPr>
        <p:txBody>
          <a:bodyPr/>
          <a:lstStyle/>
          <a:p>
            <a:r>
              <a:rPr lang="en-US" altLang="en-US" dirty="0" smtClean="0"/>
              <a:t>Windows Internet Name Service (WINS) is a legacy naming service that translates from NetBIOS (computer name) to specify a network resource.</a:t>
            </a:r>
          </a:p>
          <a:p>
            <a:r>
              <a:rPr lang="en-US" altLang="en-US" dirty="0" smtClean="0"/>
              <a:t>A WINS sever contains a database of IP addresses and NetBIOS names that update dynamically. Unfortunately, WINS is not a hierarchy system like DNS, so it is only good for your organization; also, it functions only for Windows operating systems. </a:t>
            </a:r>
          </a:p>
          <a:p>
            <a:r>
              <a:rPr lang="en-US" altLang="en-US" dirty="0" smtClean="0"/>
              <a:t>Typically, other network devices and services cannot register with a WINS server. </a:t>
            </a:r>
          </a:p>
          <a:p>
            <a:r>
              <a:rPr lang="en-US" altLang="en-US" dirty="0" smtClean="0"/>
              <a:t>Therefore, you have to add static entries for these devices if you want name resolution using WINS.</a:t>
            </a:r>
          </a:p>
          <a:p>
            <a:endParaRPr lang="en-US" altLang="en-US" dirty="0" smtClean="0"/>
          </a:p>
        </p:txBody>
      </p:sp>
      <p:sp>
        <p:nvSpPr>
          <p:cNvPr id="2" name="Title 1"/>
          <p:cNvSpPr>
            <a:spLocks noGrp="1"/>
          </p:cNvSpPr>
          <p:nvPr>
            <p:ph type="title"/>
          </p:nvPr>
        </p:nvSpPr>
        <p:spPr/>
        <p:txBody>
          <a:bodyPr/>
          <a:lstStyle/>
          <a:p>
            <a:r>
              <a:rPr lang="en-US" smtClean="0"/>
              <a:t>Windows Internet Service (WINS)</a:t>
            </a:r>
            <a:endParaRPr 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Content Placeholder 2"/>
          <p:cNvSpPr>
            <a:spLocks noGrp="1"/>
          </p:cNvSpPr>
          <p:nvPr>
            <p:ph type="body" sz="quarter" idx="10"/>
          </p:nvPr>
        </p:nvSpPr>
        <p:spPr/>
        <p:txBody>
          <a:bodyPr/>
          <a:lstStyle/>
          <a:p>
            <a:r>
              <a:rPr lang="en-US" altLang="en-US" dirty="0" smtClean="0"/>
              <a:t>Dynamic Host Configuration Protocol (DHCP) services automatically assign IP addresses and related parameters (including subnet mask and default gateway and length of the lease) so that a host can immediately communicate on an IP network when it starts.</a:t>
            </a:r>
          </a:p>
          <a:p>
            <a:r>
              <a:rPr lang="en-US" altLang="en-US" dirty="0" smtClean="0"/>
              <a:t>A DHCP server maintains a list of IP addresses called a pool. </a:t>
            </a:r>
          </a:p>
          <a:p>
            <a:r>
              <a:rPr lang="en-US" altLang="en-US" dirty="0" smtClean="0"/>
              <a:t>When a DHCP client starts and needs an IP address assigned to it, it broadcasts to a DHCP server asking for a leased address. </a:t>
            </a:r>
          </a:p>
          <a:p>
            <a:r>
              <a:rPr lang="en-US" altLang="en-US" dirty="0" smtClean="0"/>
              <a:t>The client sends messages to UDP port 67, and the server sends messages to UDP port 68.</a:t>
            </a:r>
          </a:p>
          <a:p>
            <a:endParaRPr lang="en-US" altLang="en-US" dirty="0" smtClean="0"/>
          </a:p>
        </p:txBody>
      </p:sp>
      <p:sp>
        <p:nvSpPr>
          <p:cNvPr id="2" name="Title 1"/>
          <p:cNvSpPr>
            <a:spLocks noGrp="1"/>
          </p:cNvSpPr>
          <p:nvPr>
            <p:ph type="title"/>
          </p:nvPr>
        </p:nvSpPr>
        <p:spPr/>
        <p:txBody>
          <a:bodyPr/>
          <a:lstStyle/>
          <a:p>
            <a:r>
              <a:rPr lang="en-US" smtClean="0"/>
              <a:t>DHCP</a:t>
            </a:r>
            <a:endParaRPr lang="en-US"/>
          </a:p>
        </p:txBody>
      </p:sp>
      <p:pic>
        <p:nvPicPr>
          <p:cNvPr id="7" name="Picture 6"/>
          <p:cNvPicPr>
            <a:picLocks noChangeAspect="1"/>
          </p:cNvPicPr>
          <p:nvPr/>
        </p:nvPicPr>
        <p:blipFill>
          <a:blip r:embed="rId2"/>
          <a:stretch>
            <a:fillRect/>
          </a:stretch>
        </p:blipFill>
        <p:spPr>
          <a:xfrm>
            <a:off x="2483718" y="4114800"/>
            <a:ext cx="7224563" cy="16300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DHCP</a:t>
            </a:r>
            <a:endParaRPr lang="en-US"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1" name="Content Placeholder 2"/>
          <p:cNvSpPr>
            <a:spLocks noGrp="1"/>
          </p:cNvSpPr>
          <p:nvPr>
            <p:ph type="body" sz="quarter" idx="10"/>
          </p:nvPr>
        </p:nvSpPr>
        <p:spPr/>
        <p:txBody>
          <a:bodyPr/>
          <a:lstStyle/>
          <a:p>
            <a:r>
              <a:rPr lang="en-US" altLang="en-US" smtClean="0"/>
              <a:t>A directory service stores, organizes, and provides access to information in a directory. </a:t>
            </a:r>
          </a:p>
          <a:p>
            <a:r>
              <a:rPr lang="en-US" altLang="en-US" smtClean="0"/>
              <a:t>Directory services are used for locating, managing, administering, and organizing common items and network resources, such as volumes, folders, files, printers, users, groups, devices, telephone numbers, and other objects. </a:t>
            </a:r>
          </a:p>
          <a:p>
            <a:r>
              <a:rPr lang="en-US" altLang="en-US" smtClean="0"/>
              <a:t>One popular directory service used by many organizations is Microsoft’s Active Directory.</a:t>
            </a:r>
          </a:p>
          <a:p>
            <a:endParaRPr lang="en-US" altLang="en-US" smtClean="0"/>
          </a:p>
        </p:txBody>
      </p:sp>
      <p:sp>
        <p:nvSpPr>
          <p:cNvPr id="2" name="Title 1"/>
          <p:cNvSpPr>
            <a:spLocks noGrp="1"/>
          </p:cNvSpPr>
          <p:nvPr>
            <p:ph type="title"/>
          </p:nvPr>
        </p:nvSpPr>
        <p:spPr/>
        <p:txBody>
          <a:bodyPr/>
          <a:lstStyle/>
          <a:p>
            <a:r>
              <a:rPr lang="en-US" smtClean="0"/>
              <a:t>Directory Services</a:t>
            </a:r>
            <a:endParaRPr lang="en-US"/>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3" name="Content Placeholder 2"/>
          <p:cNvSpPr>
            <a:spLocks noGrp="1"/>
          </p:cNvSpPr>
          <p:nvPr>
            <p:ph type="body" sz="quarter" idx="10"/>
          </p:nvPr>
        </p:nvSpPr>
        <p:spPr/>
        <p:txBody>
          <a:bodyPr/>
          <a:lstStyle/>
          <a:p>
            <a:r>
              <a:rPr lang="en-US" smtClean="0"/>
              <a:t>Active Directory is a technology created by Microsoft that provides a variety of network services, including the following:</a:t>
            </a:r>
          </a:p>
          <a:p>
            <a:pPr lvl="1"/>
            <a:r>
              <a:rPr lang="en-US" smtClean="0"/>
              <a:t>LDAP</a:t>
            </a:r>
          </a:p>
          <a:p>
            <a:pPr lvl="1"/>
            <a:r>
              <a:rPr lang="en-US" smtClean="0"/>
              <a:t>Kerberos-based and single sign-on authentication </a:t>
            </a:r>
          </a:p>
          <a:p>
            <a:pPr lvl="1"/>
            <a:r>
              <a:rPr lang="en-US" smtClean="0"/>
              <a:t>DNS-based naming and other network information </a:t>
            </a:r>
          </a:p>
          <a:p>
            <a:pPr lvl="1"/>
            <a:r>
              <a:rPr lang="en-US" smtClean="0"/>
              <a:t>A central location for network administration and delegation of authority</a:t>
            </a:r>
          </a:p>
          <a:p>
            <a:r>
              <a:rPr lang="en-US" smtClean="0"/>
              <a:t>Active Directory requires DNS.</a:t>
            </a:r>
          </a:p>
          <a:p>
            <a:pPr lvl="1"/>
            <a:endParaRPr lang="en-US"/>
          </a:p>
        </p:txBody>
      </p:sp>
      <p:sp>
        <p:nvSpPr>
          <p:cNvPr id="2" name="Title 1"/>
          <p:cNvSpPr>
            <a:spLocks noGrp="1"/>
          </p:cNvSpPr>
          <p:nvPr>
            <p:ph type="title"/>
          </p:nvPr>
        </p:nvSpPr>
        <p:spPr/>
        <p:txBody>
          <a:bodyPr/>
          <a:lstStyle/>
          <a:p>
            <a:r>
              <a:rPr lang="en-US" smtClean="0"/>
              <a:t>Active Directory</a:t>
            </a:r>
            <a:endParaRPr lang="en-US"/>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Content Placeholder 2"/>
          <p:cNvSpPr>
            <a:spLocks noGrp="1"/>
          </p:cNvSpPr>
          <p:nvPr>
            <p:ph type="body" sz="quarter" idx="10"/>
          </p:nvPr>
        </p:nvSpPr>
        <p:spPr>
          <a:xfrm>
            <a:off x="269239" y="1189177"/>
            <a:ext cx="11653523" cy="2606867"/>
          </a:xfrm>
        </p:spPr>
        <p:txBody>
          <a:bodyPr/>
          <a:lstStyle/>
          <a:p>
            <a:r>
              <a:rPr lang="en-US" dirty="0" smtClean="0"/>
              <a:t>Active Directory forests, trees and domains are logical representations of your network organization, which allow you to organize them in the best way to manage them. </a:t>
            </a:r>
          </a:p>
          <a:p>
            <a:pPr lvl="1"/>
            <a:r>
              <a:rPr lang="en-US" dirty="0"/>
              <a:t>Forest</a:t>
            </a:r>
          </a:p>
          <a:p>
            <a:pPr lvl="1"/>
            <a:r>
              <a:rPr lang="en-US" dirty="0" smtClean="0"/>
              <a:t>Tree</a:t>
            </a:r>
          </a:p>
          <a:p>
            <a:pPr lvl="1"/>
            <a:r>
              <a:rPr lang="en-US" dirty="0"/>
              <a:t>Domain</a:t>
            </a:r>
          </a:p>
          <a:p>
            <a:r>
              <a:rPr lang="en-US" dirty="0" smtClean="0"/>
              <a:t>To allow users in one domain to access resources in another domain, Active Directory uses trust relationships. </a:t>
            </a:r>
          </a:p>
          <a:p>
            <a:endParaRPr lang="en-US" dirty="0"/>
          </a:p>
        </p:txBody>
      </p:sp>
      <p:sp>
        <p:nvSpPr>
          <p:cNvPr id="2" name="Title 1"/>
          <p:cNvSpPr>
            <a:spLocks noGrp="1"/>
          </p:cNvSpPr>
          <p:nvPr>
            <p:ph type="title"/>
          </p:nvPr>
        </p:nvSpPr>
        <p:spPr/>
        <p:txBody>
          <a:bodyPr/>
          <a:lstStyle/>
          <a:p>
            <a:r>
              <a:rPr lang="en-US" smtClean="0"/>
              <a:t>Active Directory Logical Structure</a:t>
            </a:r>
            <a:endParaRPr 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Content Placeholder 2"/>
          <p:cNvSpPr>
            <a:spLocks noGrp="1"/>
          </p:cNvSpPr>
          <p:nvPr>
            <p:ph type="body" sz="quarter" idx="10"/>
          </p:nvPr>
        </p:nvSpPr>
        <p:spPr/>
        <p:txBody>
          <a:bodyPr/>
          <a:lstStyle/>
          <a:p>
            <a:r>
              <a:rPr lang="en-US" smtClean="0"/>
              <a:t>Although domains, trees, and forests are logical representations of your organization, sites and domain controllers represent the physical structure of your network. </a:t>
            </a:r>
          </a:p>
          <a:p>
            <a:pPr lvl="1"/>
            <a:r>
              <a:rPr lang="en-US" smtClean="0"/>
              <a:t>Sites: A site is one or more IP subnets that are connected by a high-speed link, typically defined by a geographical location. </a:t>
            </a:r>
          </a:p>
          <a:p>
            <a:pPr lvl="1"/>
            <a:r>
              <a:rPr lang="en-US" smtClean="0"/>
              <a:t>Domain Controllers: A Windows server that stores a replica of the account and security information for the domain and defines the domain boundaries. </a:t>
            </a:r>
            <a:endParaRPr lang="en-US"/>
          </a:p>
        </p:txBody>
      </p:sp>
      <p:sp>
        <p:nvSpPr>
          <p:cNvPr id="2" name="Title 1"/>
          <p:cNvSpPr>
            <a:spLocks noGrp="1"/>
          </p:cNvSpPr>
          <p:nvPr>
            <p:ph type="title"/>
          </p:nvPr>
        </p:nvSpPr>
        <p:spPr/>
        <p:txBody>
          <a:bodyPr/>
          <a:lstStyle/>
          <a:p>
            <a:r>
              <a:rPr lang="en-US" smtClean="0"/>
              <a:t>Physical Structure</a:t>
            </a:r>
            <a:endParaRPr lang="en-US"/>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1" name="Content Placeholder 2"/>
          <p:cNvSpPr>
            <a:spLocks noGrp="1"/>
          </p:cNvSpPr>
          <p:nvPr>
            <p:ph type="body" sz="quarter" idx="10"/>
          </p:nvPr>
        </p:nvSpPr>
        <p:spPr/>
        <p:txBody>
          <a:bodyPr/>
          <a:lstStyle/>
          <a:p>
            <a:r>
              <a:rPr lang="en-US" altLang="en-US" smtClean="0"/>
              <a:t>A server that is not running as a domain controller is known as a member server. </a:t>
            </a:r>
          </a:p>
          <a:p>
            <a:r>
              <a:rPr lang="en-US" altLang="en-US" smtClean="0"/>
              <a:t>To demote a domain controller to a member server, you would rerun the dcpromo program. </a:t>
            </a:r>
          </a:p>
        </p:txBody>
      </p:sp>
      <p:sp>
        <p:nvSpPr>
          <p:cNvPr id="2" name="Title 1"/>
          <p:cNvSpPr>
            <a:spLocks noGrp="1"/>
          </p:cNvSpPr>
          <p:nvPr>
            <p:ph type="title"/>
          </p:nvPr>
        </p:nvSpPr>
        <p:spPr/>
        <p:txBody>
          <a:bodyPr/>
          <a:lstStyle/>
          <a:p>
            <a:r>
              <a:rPr lang="en-US" smtClean="0"/>
              <a:t>Member Server</a:t>
            </a:r>
            <a:endParaRPr lang="en-US"/>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7" name="Content Placeholder 2"/>
          <p:cNvSpPr>
            <a:spLocks noGrp="1"/>
          </p:cNvSpPr>
          <p:nvPr>
            <p:ph type="body" sz="quarter" idx="10"/>
          </p:nvPr>
        </p:nvSpPr>
        <p:spPr/>
        <p:txBody>
          <a:bodyPr/>
          <a:lstStyle/>
          <a:p>
            <a:r>
              <a:rPr lang="en-US" altLang="en-US" smtClean="0"/>
              <a:t>Because the domain controller only has information for the domain and does not store a copy of the objects for other domains, you still need a way to find and access objects in other domains within your tree and forest. </a:t>
            </a:r>
          </a:p>
          <a:p>
            <a:r>
              <a:rPr lang="en-US" altLang="en-US" smtClean="0"/>
              <a:t>A global catalog replicates the information of every object in a tree and forest. </a:t>
            </a:r>
          </a:p>
          <a:p>
            <a:r>
              <a:rPr lang="en-US" altLang="en-US" smtClean="0"/>
              <a:t>By default, a global catalog is created automatically on the first domain controller in the forest, but any domain controller can be made into a global catalog. </a:t>
            </a:r>
          </a:p>
        </p:txBody>
      </p:sp>
      <p:sp>
        <p:nvSpPr>
          <p:cNvPr id="2" name="Title 1"/>
          <p:cNvSpPr>
            <a:spLocks noGrp="1"/>
          </p:cNvSpPr>
          <p:nvPr>
            <p:ph type="title"/>
          </p:nvPr>
        </p:nvSpPr>
        <p:spPr/>
        <p:txBody>
          <a:bodyPr/>
          <a:lstStyle/>
          <a:p>
            <a:r>
              <a:rPr lang="en-US" smtClean="0"/>
              <a:t>Global Catalogs</a:t>
            </a:r>
            <a:endParaRPr 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5" name="Content Placeholder 2"/>
          <p:cNvSpPr>
            <a:spLocks noGrp="1"/>
          </p:cNvSpPr>
          <p:nvPr>
            <p:ph type="body" sz="quarter" idx="10"/>
          </p:nvPr>
        </p:nvSpPr>
        <p:spPr/>
        <p:txBody>
          <a:bodyPr/>
          <a:lstStyle/>
          <a:p>
            <a:r>
              <a:rPr lang="en-US" altLang="en-US" dirty="0" smtClean="0"/>
              <a:t>Active Directory uses </a:t>
            </a:r>
            <a:r>
              <a:rPr lang="en-US" altLang="en-US" dirty="0" err="1" smtClean="0"/>
              <a:t>multimaster</a:t>
            </a:r>
            <a:r>
              <a:rPr lang="en-US" altLang="en-US" dirty="0" smtClean="0"/>
              <a:t> replication, which means that there is no master domain controller, commonly referred to as a primary domain controller within Windows NT domains. </a:t>
            </a:r>
          </a:p>
          <a:p>
            <a:r>
              <a:rPr lang="en-US" altLang="en-US" dirty="0" smtClean="0"/>
              <a:t>However, because there are certain functions that can be handled by only one domain controller at a time, Active Directory uses Flexible Single Master Operations (FSMO) roles, also known as operations master roles. </a:t>
            </a:r>
          </a:p>
        </p:txBody>
      </p:sp>
      <p:sp>
        <p:nvSpPr>
          <p:cNvPr id="2" name="Title 1"/>
          <p:cNvSpPr>
            <a:spLocks noGrp="1"/>
          </p:cNvSpPr>
          <p:nvPr>
            <p:ph type="title"/>
          </p:nvPr>
        </p:nvSpPr>
        <p:spPr/>
        <p:txBody>
          <a:bodyPr/>
          <a:lstStyle/>
          <a:p>
            <a:r>
              <a:rPr lang="en-US" smtClean="0"/>
              <a:t>FSMO Roles</a:t>
            </a:r>
            <a:endParaRPr 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FSMO Roles</a:t>
            </a: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264264792"/>
              </p:ext>
            </p:extLst>
          </p:nvPr>
        </p:nvGraphicFramePr>
        <p:xfrm>
          <a:off x="1981200" y="1458913"/>
          <a:ext cx="8153400" cy="5063800"/>
        </p:xfrm>
        <a:graphic>
          <a:graphicData uri="http://schemas.openxmlformats.org/drawingml/2006/table">
            <a:tbl>
              <a:tblPr firstRow="1" bandRow="1">
                <a:tableStyleId>{5C22544A-7EE6-4342-B048-85BDC9FD1C3A}</a:tableStyleId>
              </a:tblPr>
              <a:tblGrid>
                <a:gridCol w="2667000"/>
                <a:gridCol w="2743200"/>
                <a:gridCol w="2743200"/>
              </a:tblGrid>
              <a:tr h="640258">
                <a:tc>
                  <a:txBody>
                    <a:bodyPr/>
                    <a:lstStyle/>
                    <a:p>
                      <a:r>
                        <a:rPr lang="en-US" sz="1800" dirty="0" smtClean="0"/>
                        <a:t>Role</a:t>
                      </a:r>
                      <a:endParaRPr lang="en-US" sz="1800" dirty="0"/>
                    </a:p>
                  </a:txBody>
                  <a:tcPr marT="45731" marB="45731"/>
                </a:tc>
                <a:tc>
                  <a:txBody>
                    <a:bodyPr/>
                    <a:lstStyle/>
                    <a:p>
                      <a:r>
                        <a:rPr lang="en-US" sz="1800" dirty="0" smtClean="0"/>
                        <a:t>Scope</a:t>
                      </a:r>
                      <a:endParaRPr lang="en-US" sz="1800" dirty="0"/>
                    </a:p>
                  </a:txBody>
                  <a:tcPr marT="45731" marB="45731"/>
                </a:tc>
                <a:tc>
                  <a:txBody>
                    <a:bodyPr/>
                    <a:lstStyle/>
                    <a:p>
                      <a:r>
                        <a:rPr lang="en-US" sz="1800" dirty="0" smtClean="0"/>
                        <a:t>Description</a:t>
                      </a:r>
                      <a:endParaRPr lang="en-US" sz="1800" dirty="0"/>
                    </a:p>
                  </a:txBody>
                  <a:tcPr marT="45731" marB="45731"/>
                </a:tc>
              </a:tr>
              <a:tr h="644096">
                <a:tc>
                  <a:txBody>
                    <a:bodyPr/>
                    <a:lstStyle/>
                    <a:p>
                      <a:pPr fontAlgn="base"/>
                      <a:r>
                        <a:rPr lang="en-US" sz="1800" dirty="0">
                          <a:effectLst/>
                          <a:latin typeface="Segoe UI Semibold" panose="020B0702040204020203" pitchFamily="34" charset="0"/>
                          <a:cs typeface="Segoe UI Semibold" panose="020B0702040204020203" pitchFamily="34" charset="0"/>
                        </a:rPr>
                        <a:t>PDC Emulator</a:t>
                      </a:r>
                    </a:p>
                  </a:txBody>
                  <a:tcPr marL="228600" marR="228600" marT="57150" marB="57150"/>
                </a:tc>
                <a:tc>
                  <a:txBody>
                    <a:bodyPr/>
                    <a:lstStyle/>
                    <a:p>
                      <a:pPr fontAlgn="base"/>
                      <a:r>
                        <a:rPr lang="en-US" sz="1800">
                          <a:effectLst/>
                          <a:latin typeface="Segoe UI Semibold" panose="020B0702040204020203" pitchFamily="34" charset="0"/>
                          <a:cs typeface="Segoe UI Semibold" panose="020B0702040204020203" pitchFamily="34" charset="0"/>
                        </a:rPr>
                        <a:t>Domain</a:t>
                      </a:r>
                    </a:p>
                  </a:txBody>
                  <a:tcPr marL="228600" marR="228600" marT="57150" marB="57150"/>
                </a:tc>
                <a:tc>
                  <a:txBody>
                    <a:bodyPr/>
                    <a:lstStyle/>
                    <a:p>
                      <a:r>
                        <a:rPr lang="en-US" sz="1400" dirty="0" smtClean="0">
                          <a:latin typeface="Segoe UI Semibold" panose="020B0702040204020203" pitchFamily="34" charset="0"/>
                          <a:cs typeface="Segoe UI Semibold" panose="020B0702040204020203" pitchFamily="34" charset="0"/>
                        </a:rPr>
                        <a:t>Provides Backward compatibility as well as password</a:t>
                      </a:r>
                      <a:r>
                        <a:rPr lang="en-US" sz="1400" baseline="0" dirty="0" smtClean="0">
                          <a:latin typeface="Segoe UI Semibold" panose="020B0702040204020203" pitchFamily="34" charset="0"/>
                          <a:cs typeface="Segoe UI Semibold" panose="020B0702040204020203" pitchFamily="34" charset="0"/>
                        </a:rPr>
                        <a:t> changes and master time server</a:t>
                      </a:r>
                      <a:endParaRPr lang="en-US" sz="1400" dirty="0">
                        <a:latin typeface="Segoe UI Semibold" panose="020B0702040204020203" pitchFamily="34" charset="0"/>
                        <a:cs typeface="Segoe UI Semibold" panose="020B0702040204020203" pitchFamily="34" charset="0"/>
                      </a:endParaRPr>
                    </a:p>
                  </a:txBody>
                  <a:tcPr marT="45731" marB="45731"/>
                </a:tc>
              </a:tr>
              <a:tr h="644096">
                <a:tc>
                  <a:txBody>
                    <a:bodyPr/>
                    <a:lstStyle/>
                    <a:p>
                      <a:pPr fontAlgn="base"/>
                      <a:r>
                        <a:rPr lang="en-US" sz="1800" dirty="0">
                          <a:effectLst/>
                          <a:latin typeface="Segoe UI Semibold" panose="020B0702040204020203" pitchFamily="34" charset="0"/>
                          <a:cs typeface="Segoe UI Semibold" panose="020B0702040204020203" pitchFamily="34" charset="0"/>
                        </a:rPr>
                        <a:t>Infrastructure Master</a:t>
                      </a:r>
                    </a:p>
                  </a:txBody>
                  <a:tcPr marL="228600" marR="228600" marT="57150" marB="57150"/>
                </a:tc>
                <a:tc>
                  <a:txBody>
                    <a:bodyPr/>
                    <a:lstStyle/>
                    <a:p>
                      <a:pPr fontAlgn="base"/>
                      <a:r>
                        <a:rPr lang="en-US" sz="1800" dirty="0">
                          <a:effectLst/>
                          <a:latin typeface="Segoe UI Semibold" panose="020B0702040204020203" pitchFamily="34" charset="0"/>
                          <a:cs typeface="Segoe UI Semibold" panose="020B0702040204020203" pitchFamily="34" charset="0"/>
                        </a:rPr>
                        <a:t>Domain</a:t>
                      </a:r>
                    </a:p>
                  </a:txBody>
                  <a:tcPr marL="228600" marR="228600" marT="57150" marB="57150"/>
                </a:tc>
                <a:tc>
                  <a:txBody>
                    <a:bodyPr/>
                    <a:lstStyle/>
                    <a:p>
                      <a:r>
                        <a:rPr lang="en-US" sz="1400" dirty="0" smtClean="0">
                          <a:latin typeface="Segoe UI Semibold" panose="020B0702040204020203" pitchFamily="34" charset="0"/>
                          <a:cs typeface="Segoe UI Semibold" panose="020B0702040204020203" pitchFamily="34" charset="0"/>
                        </a:rPr>
                        <a:t>Syncs cross-domain group</a:t>
                      </a:r>
                      <a:r>
                        <a:rPr lang="en-US" sz="1400" baseline="0" dirty="0" smtClean="0">
                          <a:latin typeface="Segoe UI Semibold" panose="020B0702040204020203" pitchFamily="34" charset="0"/>
                          <a:cs typeface="Segoe UI Semibold" panose="020B0702040204020203" pitchFamily="34" charset="0"/>
                        </a:rPr>
                        <a:t> memberships changes</a:t>
                      </a:r>
                      <a:endParaRPr lang="en-US" sz="1400" dirty="0">
                        <a:latin typeface="Segoe UI Semibold" panose="020B0702040204020203" pitchFamily="34" charset="0"/>
                        <a:cs typeface="Segoe UI Semibold" panose="020B0702040204020203" pitchFamily="34" charset="0"/>
                      </a:endParaRPr>
                    </a:p>
                  </a:txBody>
                  <a:tcPr marT="45731" marB="45731"/>
                </a:tc>
              </a:tr>
              <a:tr h="1188649">
                <a:tc>
                  <a:txBody>
                    <a:bodyPr/>
                    <a:lstStyle/>
                    <a:p>
                      <a:pPr fontAlgn="base"/>
                      <a:r>
                        <a:rPr lang="en-US" sz="1800">
                          <a:effectLst/>
                          <a:latin typeface="Segoe UI Semibold" panose="020B0702040204020203" pitchFamily="34" charset="0"/>
                          <a:cs typeface="Segoe UI Semibold" panose="020B0702040204020203" pitchFamily="34" charset="0"/>
                        </a:rPr>
                        <a:t>RID Master</a:t>
                      </a:r>
                    </a:p>
                  </a:txBody>
                  <a:tcPr marL="228600" marR="228600" marT="57150" marB="57150"/>
                </a:tc>
                <a:tc>
                  <a:txBody>
                    <a:bodyPr/>
                    <a:lstStyle/>
                    <a:p>
                      <a:pPr fontAlgn="base"/>
                      <a:r>
                        <a:rPr lang="en-US" sz="1800" dirty="0">
                          <a:effectLst/>
                          <a:latin typeface="Segoe UI Semibold" panose="020B0702040204020203" pitchFamily="34" charset="0"/>
                          <a:cs typeface="Segoe UI Semibold" panose="020B0702040204020203" pitchFamily="34" charset="0"/>
                        </a:rPr>
                        <a:t>Domain</a:t>
                      </a:r>
                    </a:p>
                  </a:txBody>
                  <a:tcPr marL="228600" marR="228600" marT="57150" marB="57150"/>
                </a:tc>
                <a:tc>
                  <a:txBody>
                    <a:bodyPr/>
                    <a:lstStyle/>
                    <a:p>
                      <a:r>
                        <a:rPr lang="en-US" sz="1400" dirty="0" smtClean="0">
                          <a:latin typeface="Segoe UI Semibold" panose="020B0702040204020203" pitchFamily="34" charset="0"/>
                          <a:cs typeface="Segoe UI Semibold" panose="020B0702040204020203" pitchFamily="34" charset="0"/>
                        </a:rPr>
                        <a:t>Allocates pools of unique identifies to domain</a:t>
                      </a:r>
                      <a:r>
                        <a:rPr lang="en-US" sz="1400" baseline="0" dirty="0" smtClean="0">
                          <a:latin typeface="Segoe UI Semibold" panose="020B0702040204020203" pitchFamily="34" charset="0"/>
                          <a:cs typeface="Segoe UI Semibold" panose="020B0702040204020203" pitchFamily="34" charset="0"/>
                        </a:rPr>
                        <a:t> controllers for use when creating objects</a:t>
                      </a:r>
                      <a:endParaRPr lang="en-US" sz="1400" dirty="0">
                        <a:latin typeface="Segoe UI Semibold" panose="020B0702040204020203" pitchFamily="34" charset="0"/>
                        <a:cs typeface="Segoe UI Semibold" panose="020B0702040204020203" pitchFamily="34" charset="0"/>
                      </a:endParaRPr>
                    </a:p>
                  </a:txBody>
                  <a:tcPr marT="45731" marB="45731"/>
                </a:tc>
              </a:tr>
              <a:tr h="914353">
                <a:tc>
                  <a:txBody>
                    <a:bodyPr/>
                    <a:lstStyle/>
                    <a:p>
                      <a:pPr fontAlgn="base"/>
                      <a:r>
                        <a:rPr lang="en-US" sz="1800">
                          <a:effectLst/>
                          <a:latin typeface="Segoe UI Semibold" panose="020B0702040204020203" pitchFamily="34" charset="0"/>
                          <a:cs typeface="Segoe UI Semibold" panose="020B0702040204020203" pitchFamily="34" charset="0"/>
                        </a:rPr>
                        <a:t>Domain Naming Master</a:t>
                      </a:r>
                    </a:p>
                  </a:txBody>
                  <a:tcPr marL="228600" marR="228600" marT="57150" marB="57150"/>
                </a:tc>
                <a:tc>
                  <a:txBody>
                    <a:bodyPr/>
                    <a:lstStyle/>
                    <a:p>
                      <a:pPr fontAlgn="base"/>
                      <a:r>
                        <a:rPr lang="en-US" sz="1800" dirty="0">
                          <a:effectLst/>
                          <a:latin typeface="Segoe UI Semibold" panose="020B0702040204020203" pitchFamily="34" charset="0"/>
                          <a:cs typeface="Segoe UI Semibold" panose="020B0702040204020203" pitchFamily="34" charset="0"/>
                        </a:rPr>
                        <a:t>Forest</a:t>
                      </a:r>
                    </a:p>
                  </a:txBody>
                  <a:tcPr marL="228600" marR="228600" marT="57150" marB="57150"/>
                </a:tc>
                <a:tc>
                  <a:txBody>
                    <a:bodyPr/>
                    <a:lstStyle/>
                    <a:p>
                      <a:r>
                        <a:rPr lang="en-US" sz="1400" dirty="0" smtClean="0">
                          <a:latin typeface="Segoe UI Semibold" panose="020B0702040204020203" pitchFamily="34" charset="0"/>
                          <a:cs typeface="Segoe UI Semibold" panose="020B0702040204020203" pitchFamily="34" charset="0"/>
                        </a:rPr>
                        <a:t>Controls the addition</a:t>
                      </a:r>
                      <a:r>
                        <a:rPr lang="en-US" sz="1400" baseline="0" dirty="0" smtClean="0">
                          <a:latin typeface="Segoe UI Semibold" panose="020B0702040204020203" pitchFamily="34" charset="0"/>
                          <a:cs typeface="Segoe UI Semibold" panose="020B0702040204020203" pitchFamily="34" charset="0"/>
                        </a:rPr>
                        <a:t> and removal of domains from the forest</a:t>
                      </a:r>
                      <a:endParaRPr lang="en-US" sz="1400" dirty="0">
                        <a:latin typeface="Segoe UI Semibold" panose="020B0702040204020203" pitchFamily="34" charset="0"/>
                        <a:cs typeface="Segoe UI Semibold" panose="020B0702040204020203" pitchFamily="34" charset="0"/>
                      </a:endParaRPr>
                    </a:p>
                  </a:txBody>
                  <a:tcPr marT="45731" marB="45731"/>
                </a:tc>
              </a:tr>
              <a:tr h="640131">
                <a:tc>
                  <a:txBody>
                    <a:bodyPr/>
                    <a:lstStyle/>
                    <a:p>
                      <a:pPr fontAlgn="base"/>
                      <a:r>
                        <a:rPr lang="en-US" sz="1800">
                          <a:effectLst/>
                          <a:latin typeface="Segoe UI Semibold" panose="020B0702040204020203" pitchFamily="34" charset="0"/>
                          <a:cs typeface="Segoe UI Semibold" panose="020B0702040204020203" pitchFamily="34" charset="0"/>
                        </a:rPr>
                        <a:t>Schema Master</a:t>
                      </a:r>
                    </a:p>
                  </a:txBody>
                  <a:tcPr marL="228600" marR="228600" marT="57150" marB="57150"/>
                </a:tc>
                <a:tc>
                  <a:txBody>
                    <a:bodyPr/>
                    <a:lstStyle/>
                    <a:p>
                      <a:pPr fontAlgn="base"/>
                      <a:r>
                        <a:rPr lang="en-US" sz="1800" dirty="0">
                          <a:effectLst/>
                          <a:latin typeface="Segoe UI Semibold" panose="020B0702040204020203" pitchFamily="34" charset="0"/>
                          <a:cs typeface="Segoe UI Semibold" panose="020B0702040204020203" pitchFamily="34" charset="0"/>
                        </a:rPr>
                        <a:t>Forest</a:t>
                      </a:r>
                    </a:p>
                  </a:txBody>
                  <a:tcPr marL="228600" marR="228600" marT="57150" marB="57150"/>
                </a:tc>
                <a:tc>
                  <a:txBody>
                    <a:bodyPr/>
                    <a:lstStyle/>
                    <a:p>
                      <a:r>
                        <a:rPr lang="en-US" sz="1400" dirty="0" smtClean="0">
                          <a:latin typeface="Segoe UI Semibold" panose="020B0702040204020203" pitchFamily="34" charset="0"/>
                          <a:cs typeface="Segoe UI Semibold" panose="020B0702040204020203" pitchFamily="34" charset="0"/>
                        </a:rPr>
                        <a:t>Controls and handles updates</a:t>
                      </a:r>
                      <a:r>
                        <a:rPr lang="en-US" sz="1400" baseline="0" dirty="0" smtClean="0">
                          <a:latin typeface="Segoe UI Semibold" panose="020B0702040204020203" pitchFamily="34" charset="0"/>
                          <a:cs typeface="Segoe UI Semibold" panose="020B0702040204020203" pitchFamily="34" charset="0"/>
                        </a:rPr>
                        <a:t> and modifications to the AD Schema</a:t>
                      </a:r>
                      <a:endParaRPr lang="en-US" sz="1400" dirty="0" smtClean="0">
                        <a:latin typeface="Segoe UI Semibold" panose="020B0702040204020203" pitchFamily="34" charset="0"/>
                        <a:cs typeface="Segoe UI Semibold" panose="020B0702040204020203" pitchFamily="34" charset="0"/>
                      </a:endParaRPr>
                    </a:p>
                  </a:txBody>
                  <a:tcPr marT="45731" marB="45731"/>
                </a:tc>
              </a:tr>
            </a:tbl>
          </a:graphicData>
        </a:graphic>
      </p:graphicFrame>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1" name="Content Placeholder 2"/>
          <p:cNvSpPr>
            <a:spLocks noGrp="1"/>
          </p:cNvSpPr>
          <p:nvPr>
            <p:ph type="body" sz="quarter" idx="10"/>
          </p:nvPr>
        </p:nvSpPr>
        <p:spPr/>
        <p:txBody>
          <a:bodyPr/>
          <a:lstStyle/>
          <a:p>
            <a:r>
              <a:rPr lang="en-US" altLang="en-US" smtClean="0"/>
              <a:t>In Active Directory, you can have domain controllers running different versions of Windows servers, such as Windows 2000, Windows Server 2003, or Windows Server 2008. </a:t>
            </a:r>
          </a:p>
          <a:p>
            <a:r>
              <a:rPr lang="en-US" altLang="en-US" smtClean="0"/>
              <a:t>The functional level of a domain or forest depends on which Windows Server operating system versions are running on the domain controllers in that domain or forest. </a:t>
            </a:r>
          </a:p>
          <a:p>
            <a:r>
              <a:rPr lang="en-US" altLang="en-US" smtClean="0"/>
              <a:t>The functional level also controls which advanced features are available in the domain or forest. </a:t>
            </a:r>
          </a:p>
        </p:txBody>
      </p:sp>
      <p:sp>
        <p:nvSpPr>
          <p:cNvPr id="2" name="Title 1"/>
          <p:cNvSpPr>
            <a:spLocks noGrp="1"/>
          </p:cNvSpPr>
          <p:nvPr>
            <p:ph type="title"/>
          </p:nvPr>
        </p:nvSpPr>
        <p:spPr/>
        <p:txBody>
          <a:bodyPr/>
          <a:lstStyle/>
          <a:p>
            <a:r>
              <a:rPr lang="en-US" smtClean="0"/>
              <a:t>Functional Levels</a:t>
            </a:r>
            <a:endParaRPr lang="en-US"/>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3" name="Content Placeholder 2"/>
          <p:cNvSpPr>
            <a:spLocks noGrp="1"/>
          </p:cNvSpPr>
          <p:nvPr>
            <p:ph type="body" sz="quarter" idx="10"/>
          </p:nvPr>
        </p:nvSpPr>
        <p:spPr/>
        <p:txBody>
          <a:bodyPr/>
          <a:lstStyle/>
          <a:p>
            <a:r>
              <a:rPr lang="en-US" altLang="en-US" smtClean="0"/>
              <a:t>By delegating administration, you can assign a range of administrative tasks to the appropriate users and groups. </a:t>
            </a:r>
          </a:p>
        </p:txBody>
      </p:sp>
      <p:sp>
        <p:nvSpPr>
          <p:cNvPr id="2" name="Title 1"/>
          <p:cNvSpPr>
            <a:spLocks noGrp="1"/>
          </p:cNvSpPr>
          <p:nvPr>
            <p:ph type="title"/>
          </p:nvPr>
        </p:nvSpPr>
        <p:spPr/>
        <p:txBody>
          <a:bodyPr/>
          <a:lstStyle/>
          <a:p>
            <a:r>
              <a:rPr lang="en-US" smtClean="0"/>
              <a:t>Delegation of Control</a:t>
            </a:r>
            <a:endParaRPr lang="en-US"/>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1" name="Content Placeholder 2"/>
          <p:cNvSpPr>
            <a:spLocks noGrp="1"/>
          </p:cNvSpPr>
          <p:nvPr>
            <p:ph type="body" sz="quarter" idx="10"/>
          </p:nvPr>
        </p:nvSpPr>
        <p:spPr/>
        <p:txBody>
          <a:bodyPr/>
          <a:lstStyle/>
          <a:p>
            <a:r>
              <a:rPr lang="en-US" altLang="en-US" smtClean="0"/>
              <a:t>An object is a distinct, named set of attributes or characteristics that represent a network resource. </a:t>
            </a:r>
          </a:p>
          <a:p>
            <a:r>
              <a:rPr lang="en-US" altLang="en-US" smtClean="0"/>
              <a:t>Common objects used within Active Directory are computers, users, groups, and printers. </a:t>
            </a:r>
          </a:p>
          <a:p>
            <a:r>
              <a:rPr lang="en-US" altLang="en-US" smtClean="0"/>
              <a:t>Attributes have values that define the specific object. </a:t>
            </a:r>
          </a:p>
          <a:p>
            <a:r>
              <a:rPr lang="en-US" altLang="en-US" smtClean="0"/>
              <a:t>Active Directory objects are assigned a 128-bit unique number called a globally unique identifier (GUID), sometimes referred to as a security identifier (SID), to uniquely identify an object. </a:t>
            </a:r>
          </a:p>
        </p:txBody>
      </p:sp>
      <p:sp>
        <p:nvSpPr>
          <p:cNvPr id="2" name="Title 1"/>
          <p:cNvSpPr>
            <a:spLocks noGrp="1"/>
          </p:cNvSpPr>
          <p:nvPr>
            <p:ph type="title"/>
          </p:nvPr>
        </p:nvSpPr>
        <p:spPr/>
        <p:txBody>
          <a:bodyPr/>
          <a:lstStyle/>
          <a:p>
            <a:r>
              <a:rPr lang="en-US" smtClean="0"/>
              <a:t>Active Directory Objects</a:t>
            </a:r>
            <a:endParaRPr lang="en-US"/>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5" name="Content Placeholder 2"/>
          <p:cNvSpPr>
            <a:spLocks noGrp="1"/>
          </p:cNvSpPr>
          <p:nvPr>
            <p:ph type="body" sz="quarter" idx="10"/>
          </p:nvPr>
        </p:nvSpPr>
        <p:spPr/>
        <p:txBody>
          <a:bodyPr/>
          <a:lstStyle/>
          <a:p>
            <a:r>
              <a:rPr lang="en-US" altLang="en-US" smtClean="0"/>
              <a:t>A user account enables a user to log on to a computer and domain. </a:t>
            </a:r>
          </a:p>
          <a:p>
            <a:r>
              <a:rPr lang="en-US" altLang="en-US" smtClean="0"/>
              <a:t>As a result, it can be used to prove the identity of a user, and this identity information can then be used to determine what the user can access and what kind of authorization he or she has. </a:t>
            </a:r>
          </a:p>
          <a:p>
            <a:r>
              <a:rPr lang="en-US" altLang="en-US" smtClean="0"/>
              <a:t>It can also be used for auditing.</a:t>
            </a:r>
          </a:p>
          <a:p>
            <a:r>
              <a:rPr lang="en-US" altLang="en-US" smtClean="0"/>
              <a:t>On today’s Windows networks, there are two types of user accounts: Local user accounts and Domain user accounts</a:t>
            </a:r>
          </a:p>
          <a:p>
            <a:endParaRPr lang="en-US" altLang="en-US" smtClean="0"/>
          </a:p>
        </p:txBody>
      </p:sp>
      <p:sp>
        <p:nvSpPr>
          <p:cNvPr id="2" name="Title 1"/>
          <p:cNvSpPr>
            <a:spLocks noGrp="1"/>
          </p:cNvSpPr>
          <p:nvPr>
            <p:ph type="title"/>
          </p:nvPr>
        </p:nvSpPr>
        <p:spPr/>
        <p:txBody>
          <a:bodyPr/>
          <a:lstStyle/>
          <a:p>
            <a:r>
              <a:rPr lang="en-US" smtClean="0"/>
              <a:t>User Accounts</a:t>
            </a:r>
            <a:endParaRPr lang="en-US"/>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9" name="Content Placeholder 2"/>
          <p:cNvSpPr>
            <a:spLocks noGrp="1"/>
          </p:cNvSpPr>
          <p:nvPr>
            <p:ph type="body" sz="quarter" idx="10"/>
          </p:nvPr>
        </p:nvSpPr>
        <p:spPr/>
        <p:txBody>
          <a:bodyPr/>
          <a:lstStyle/>
          <a:p>
            <a:r>
              <a:rPr lang="en-US" altLang="en-US" smtClean="0"/>
              <a:t>A permission defines the type of access that is granted to an object (an object can be identified with a security identifier) or object attribute. </a:t>
            </a:r>
          </a:p>
          <a:p>
            <a:r>
              <a:rPr lang="en-US" altLang="en-US" smtClean="0"/>
              <a:t>The most common objects assigned permissions are NTFS files and folders, printers, and Active Directory objects. </a:t>
            </a:r>
          </a:p>
          <a:p>
            <a:r>
              <a:rPr lang="en-US" altLang="en-US" smtClean="0"/>
              <a:t>Which users can access an object and what actions those users are authorized to perform are recorded in the access control list (ACL), which lists all users and groups that have access to the object. </a:t>
            </a:r>
          </a:p>
          <a:p>
            <a:endParaRPr lang="en-US" altLang="en-US" smtClean="0"/>
          </a:p>
        </p:txBody>
      </p:sp>
      <p:sp>
        <p:nvSpPr>
          <p:cNvPr id="2" name="Title 1"/>
          <p:cNvSpPr>
            <a:spLocks noGrp="1"/>
          </p:cNvSpPr>
          <p:nvPr>
            <p:ph type="title"/>
          </p:nvPr>
        </p:nvSpPr>
        <p:spPr/>
        <p:txBody>
          <a:bodyPr/>
          <a:lstStyle/>
          <a:p>
            <a:r>
              <a:rPr lang="en-US" smtClean="0"/>
              <a:t>Permissions</a:t>
            </a:r>
            <a:endParaRPr lang="en-US"/>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Content Placeholder 2"/>
          <p:cNvSpPr>
            <a:spLocks noGrp="1"/>
          </p:cNvSpPr>
          <p:nvPr>
            <p:ph type="body" sz="quarter" idx="10"/>
          </p:nvPr>
        </p:nvSpPr>
        <p:spPr/>
        <p:txBody>
          <a:bodyPr/>
          <a:lstStyle/>
          <a:p>
            <a:r>
              <a:rPr lang="en-US" altLang="en-US" smtClean="0"/>
              <a:t>Like user accounts, Windows computer accounts provide a means for authenticating and auditing a computer’s access to a Windows network and access to domain resources. </a:t>
            </a:r>
          </a:p>
          <a:p>
            <a:r>
              <a:rPr lang="en-US" altLang="en-US" smtClean="0"/>
              <a:t>Each Windows computer to which you want to grant access must have a unique computer account. </a:t>
            </a:r>
          </a:p>
          <a:p>
            <a:r>
              <a:rPr lang="en-US" altLang="en-US" smtClean="0"/>
              <a:t>A computer account can also be used for auditing purposes, specifying what system was used when something was accessed.</a:t>
            </a:r>
          </a:p>
          <a:p>
            <a:endParaRPr lang="en-US" altLang="en-US" smtClean="0"/>
          </a:p>
        </p:txBody>
      </p:sp>
      <p:sp>
        <p:nvSpPr>
          <p:cNvPr id="2" name="Title 1"/>
          <p:cNvSpPr>
            <a:spLocks noGrp="1"/>
          </p:cNvSpPr>
          <p:nvPr>
            <p:ph type="title"/>
          </p:nvPr>
        </p:nvSpPr>
        <p:spPr/>
        <p:txBody>
          <a:bodyPr/>
          <a:lstStyle/>
          <a:p>
            <a:r>
              <a:rPr lang="en-US" smtClean="0"/>
              <a:t>Computer Accounts</a:t>
            </a:r>
            <a:endParaRPr lang="en-US"/>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5" name="Content Placeholder 2"/>
          <p:cNvSpPr>
            <a:spLocks noGrp="1"/>
          </p:cNvSpPr>
          <p:nvPr>
            <p:ph type="body" sz="quarter" idx="10"/>
          </p:nvPr>
        </p:nvSpPr>
        <p:spPr/>
        <p:txBody>
          <a:bodyPr/>
          <a:lstStyle/>
          <a:p>
            <a:r>
              <a:rPr lang="en-US" altLang="en-US" dirty="0" smtClean="0"/>
              <a:t>A group is a collection or list of user accounts or computer accounts. </a:t>
            </a:r>
          </a:p>
          <a:p>
            <a:r>
              <a:rPr lang="en-US" altLang="en-US" dirty="0" smtClean="0"/>
              <a:t>Different from a container, a group does not store user or computer information; rather, it just lists it. </a:t>
            </a:r>
          </a:p>
          <a:p>
            <a:r>
              <a:rPr lang="en-US" altLang="en-US" dirty="0" smtClean="0"/>
              <a:t>The advantage of using groups is that they simplify administration, especially when assigning rights and permissions.</a:t>
            </a:r>
          </a:p>
          <a:p>
            <a:r>
              <a:rPr lang="en-US" altLang="en-US" dirty="0" smtClean="0"/>
              <a:t>In Windows Active Directory, there are there are two types of groups: Security and Distribution group</a:t>
            </a:r>
          </a:p>
        </p:txBody>
      </p:sp>
      <p:sp>
        <p:nvSpPr>
          <p:cNvPr id="2" name="Title 1"/>
          <p:cNvSpPr>
            <a:spLocks noGrp="1"/>
          </p:cNvSpPr>
          <p:nvPr>
            <p:ph type="title"/>
          </p:nvPr>
        </p:nvSpPr>
        <p:spPr/>
        <p:txBody>
          <a:bodyPr/>
          <a:lstStyle/>
          <a:p>
            <a:r>
              <a:rPr lang="en-US" smtClean="0"/>
              <a:t>Groups</a:t>
            </a:r>
            <a:endParaRPr lang="en-US"/>
          </a:p>
        </p:txBody>
      </p:sp>
      <p:pic>
        <p:nvPicPr>
          <p:cNvPr id="3" name="Picture 2"/>
          <p:cNvPicPr>
            <a:picLocks noChangeAspect="1"/>
          </p:cNvPicPr>
          <p:nvPr/>
        </p:nvPicPr>
        <p:blipFill>
          <a:blip r:embed="rId2"/>
          <a:stretch>
            <a:fillRect/>
          </a:stretch>
        </p:blipFill>
        <p:spPr>
          <a:xfrm>
            <a:off x="2611878" y="3640394"/>
            <a:ext cx="1575988" cy="1575000"/>
          </a:xfrm>
          <a:prstGeom prst="rect">
            <a:avLst/>
          </a:prstGeom>
        </p:spPr>
      </p:pic>
      <p:pic>
        <p:nvPicPr>
          <p:cNvPr id="4" name="Picture 3"/>
          <p:cNvPicPr>
            <a:picLocks noChangeAspect="1"/>
          </p:cNvPicPr>
          <p:nvPr/>
        </p:nvPicPr>
        <p:blipFill>
          <a:blip r:embed="rId3"/>
          <a:stretch>
            <a:fillRect/>
          </a:stretch>
        </p:blipFill>
        <p:spPr>
          <a:xfrm>
            <a:off x="1828800" y="4021394"/>
            <a:ext cx="1575988" cy="1575000"/>
          </a:xfrm>
          <a:prstGeom prst="rect">
            <a:avLst/>
          </a:prstGeom>
        </p:spPr>
      </p:pic>
      <p:pic>
        <p:nvPicPr>
          <p:cNvPr id="5" name="Picture 4"/>
          <p:cNvPicPr>
            <a:picLocks noChangeAspect="1"/>
          </p:cNvPicPr>
          <p:nvPr/>
        </p:nvPicPr>
        <p:blipFill>
          <a:blip r:embed="rId4"/>
          <a:stretch>
            <a:fillRect/>
          </a:stretch>
        </p:blipFill>
        <p:spPr>
          <a:xfrm>
            <a:off x="8572684" y="3640394"/>
            <a:ext cx="1575988" cy="1575000"/>
          </a:xfrm>
          <a:prstGeom prst="rect">
            <a:avLst/>
          </a:prstGeom>
        </p:spPr>
      </p:pic>
      <p:pic>
        <p:nvPicPr>
          <p:cNvPr id="6" name="Picture 5"/>
          <p:cNvPicPr>
            <a:picLocks noChangeAspect="1"/>
          </p:cNvPicPr>
          <p:nvPr/>
        </p:nvPicPr>
        <p:blipFill>
          <a:blip r:embed="rId5"/>
          <a:stretch>
            <a:fillRect/>
          </a:stretch>
        </p:blipFill>
        <p:spPr>
          <a:xfrm>
            <a:off x="7772400" y="4021394"/>
            <a:ext cx="1575988" cy="1575000"/>
          </a:xfrm>
          <a:prstGeom prst="rect">
            <a:avLst/>
          </a:prstGeom>
        </p:spPr>
      </p:pic>
      <p:pic>
        <p:nvPicPr>
          <p:cNvPr id="7" name="Picture 6"/>
          <p:cNvPicPr>
            <a:picLocks noChangeAspect="1"/>
          </p:cNvPicPr>
          <p:nvPr/>
        </p:nvPicPr>
        <p:blipFill>
          <a:blip r:embed="rId6"/>
          <a:stretch>
            <a:fillRect/>
          </a:stretch>
        </p:blipFill>
        <p:spPr>
          <a:xfrm>
            <a:off x="7013903" y="4397478"/>
            <a:ext cx="1575988" cy="1575000"/>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9" name="Content Placeholder 2"/>
          <p:cNvSpPr>
            <a:spLocks noGrp="1"/>
          </p:cNvSpPr>
          <p:nvPr>
            <p:ph type="body" sz="quarter" idx="10"/>
          </p:nvPr>
        </p:nvSpPr>
        <p:spPr/>
        <p:txBody>
          <a:bodyPr/>
          <a:lstStyle/>
          <a:p>
            <a:r>
              <a:rPr lang="en-US" smtClean="0"/>
              <a:t>To effectively manage the use of groups when assigning access to a network resource using global groups and domain local groups, remember the mnemonic AGDLP</a:t>
            </a:r>
          </a:p>
          <a:p>
            <a:pPr lvl="1"/>
            <a:r>
              <a:rPr lang="en-US" smtClean="0"/>
              <a:t>Accounts</a:t>
            </a:r>
          </a:p>
          <a:p>
            <a:pPr lvl="1"/>
            <a:r>
              <a:rPr lang="en-US" smtClean="0"/>
              <a:t>Global</a:t>
            </a:r>
          </a:p>
          <a:p>
            <a:pPr lvl="1"/>
            <a:r>
              <a:rPr lang="en-US" smtClean="0"/>
              <a:t>Domain Local</a:t>
            </a:r>
          </a:p>
          <a:p>
            <a:pPr lvl="1"/>
            <a:r>
              <a:rPr lang="en-US" smtClean="0"/>
              <a:t>Permissions</a:t>
            </a:r>
          </a:p>
          <a:p>
            <a:r>
              <a:rPr lang="en-US" smtClean="0"/>
              <a:t>If you are using universal groups, the mnemonic is expanded to AGUDLP:</a:t>
            </a:r>
          </a:p>
          <a:p>
            <a:endParaRPr lang="en-US" smtClean="0"/>
          </a:p>
          <a:p>
            <a:endParaRPr lang="en-US"/>
          </a:p>
        </p:txBody>
      </p:sp>
      <p:sp>
        <p:nvSpPr>
          <p:cNvPr id="2" name="Title 1"/>
          <p:cNvSpPr>
            <a:spLocks noGrp="1"/>
          </p:cNvSpPr>
          <p:nvPr>
            <p:ph type="title"/>
          </p:nvPr>
        </p:nvSpPr>
        <p:spPr/>
        <p:txBody>
          <a:bodyPr/>
          <a:lstStyle/>
          <a:p>
            <a:r>
              <a:rPr lang="en-US" smtClean="0"/>
              <a:t>Using Groups</a:t>
            </a:r>
            <a:endParaRPr lang="en-US"/>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3" name="Content Placeholder 2"/>
          <p:cNvSpPr>
            <a:spLocks noGrp="1"/>
          </p:cNvSpPr>
          <p:nvPr>
            <p:ph type="body" sz="quarter" idx="10"/>
          </p:nvPr>
        </p:nvSpPr>
        <p:spPr/>
        <p:txBody>
          <a:bodyPr/>
          <a:lstStyle/>
          <a:p>
            <a:r>
              <a:rPr lang="en-US" smtClean="0"/>
              <a:t>Similar to the administrator and guest accounts, Windows has default groups called built-in groups. </a:t>
            </a:r>
          </a:p>
          <a:p>
            <a:r>
              <a:rPr lang="en-US" smtClean="0"/>
              <a:t>These default groups are granted specific rights and permissions to get you started. Various built-in groups are as follows:</a:t>
            </a:r>
          </a:p>
          <a:p>
            <a:pPr lvl="1"/>
            <a:r>
              <a:rPr lang="en-US" smtClean="0"/>
              <a:t>Domain Admins</a:t>
            </a:r>
          </a:p>
          <a:p>
            <a:pPr lvl="1"/>
            <a:r>
              <a:rPr lang="en-US" smtClean="0"/>
              <a:t>Domain Users</a:t>
            </a:r>
          </a:p>
          <a:p>
            <a:pPr lvl="1"/>
            <a:r>
              <a:rPr lang="en-US" smtClean="0"/>
              <a:t>Account Operators</a:t>
            </a:r>
          </a:p>
          <a:p>
            <a:pPr lvl="1"/>
            <a:r>
              <a:rPr lang="en-US" smtClean="0"/>
              <a:t>Backup Operators</a:t>
            </a:r>
          </a:p>
          <a:p>
            <a:pPr lvl="1"/>
            <a:r>
              <a:rPr lang="en-US" smtClean="0"/>
              <a:t>Authenticated Users</a:t>
            </a:r>
          </a:p>
          <a:p>
            <a:pPr lvl="1"/>
            <a:r>
              <a:rPr lang="en-US" smtClean="0"/>
              <a:t>Everyone</a:t>
            </a:r>
            <a:endParaRPr lang="en-US"/>
          </a:p>
        </p:txBody>
      </p:sp>
      <p:sp>
        <p:nvSpPr>
          <p:cNvPr id="2" name="Title 1"/>
          <p:cNvSpPr>
            <a:spLocks noGrp="1"/>
          </p:cNvSpPr>
          <p:nvPr>
            <p:ph type="title"/>
          </p:nvPr>
        </p:nvSpPr>
        <p:spPr/>
        <p:txBody>
          <a:bodyPr/>
          <a:lstStyle/>
          <a:p>
            <a:r>
              <a:rPr lang="en-US" smtClean="0"/>
              <a:t>Built-In Groups</a:t>
            </a:r>
            <a:endParaRPr lang="en-US"/>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5" name="Content Placeholder 2"/>
          <p:cNvSpPr>
            <a:spLocks noGrp="1"/>
          </p:cNvSpPr>
          <p:nvPr>
            <p:ph type="body" sz="quarter" idx="10"/>
          </p:nvPr>
        </p:nvSpPr>
        <p:spPr/>
        <p:txBody>
          <a:bodyPr/>
          <a:lstStyle/>
          <a:p>
            <a:r>
              <a:rPr lang="en-US" smtClean="0"/>
              <a:t>After you have promoted a computer to a domain controller, you can use several MMC snap-in consoles to manage Active Directory. </a:t>
            </a:r>
          </a:p>
          <a:p>
            <a:r>
              <a:rPr lang="en-US" smtClean="0"/>
              <a:t>These consoles are as follows:</a:t>
            </a:r>
          </a:p>
          <a:p>
            <a:pPr lvl="1"/>
            <a:r>
              <a:rPr lang="en-US" smtClean="0"/>
              <a:t>Active Directory Users and Computers</a:t>
            </a:r>
          </a:p>
          <a:p>
            <a:pPr lvl="1"/>
            <a:r>
              <a:rPr lang="en-US" smtClean="0"/>
              <a:t>Active Directory Domains and Trusts</a:t>
            </a:r>
          </a:p>
          <a:p>
            <a:pPr lvl="1"/>
            <a:r>
              <a:rPr lang="en-US" smtClean="0"/>
              <a:t>Active Directory Sites and Services</a:t>
            </a:r>
          </a:p>
          <a:p>
            <a:pPr lvl="1"/>
            <a:r>
              <a:rPr lang="en-US" smtClean="0"/>
              <a:t>Active Directory Administrative Center</a:t>
            </a:r>
          </a:p>
          <a:p>
            <a:pPr lvl="1"/>
            <a:r>
              <a:rPr lang="en-US" smtClean="0"/>
              <a:t>Group Policy Management Console (GPMC)</a:t>
            </a:r>
            <a:endParaRPr lang="en-US"/>
          </a:p>
        </p:txBody>
      </p:sp>
      <p:sp>
        <p:nvSpPr>
          <p:cNvPr id="2" name="Title 1"/>
          <p:cNvSpPr>
            <a:spLocks noGrp="1"/>
          </p:cNvSpPr>
          <p:nvPr>
            <p:ph type="title"/>
          </p:nvPr>
        </p:nvSpPr>
        <p:spPr/>
        <p:txBody>
          <a:bodyPr/>
          <a:lstStyle/>
          <a:p>
            <a:r>
              <a:rPr lang="en-US" smtClean="0"/>
              <a:t>Active Directory Management Tools</a:t>
            </a:r>
            <a:endParaRPr lang="en-US"/>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type="body" sz="quarter" idx="10"/>
          </p:nvPr>
        </p:nvSpPr>
        <p:spPr>
          <a:xfrm>
            <a:off x="252669" y="1905000"/>
            <a:ext cx="11653523" cy="2142125"/>
          </a:xfrm>
        </p:spPr>
        <p:txBody>
          <a:bodyPr/>
          <a:lstStyle/>
          <a:p>
            <a:pPr lvl="1"/>
            <a:r>
              <a:rPr lang="en-US" sz="2400" dirty="0"/>
              <a:t>Active Directory Users and Computers</a:t>
            </a:r>
          </a:p>
          <a:p>
            <a:pPr lvl="1"/>
            <a:r>
              <a:rPr lang="en-US" sz="2400" dirty="0"/>
              <a:t>Active Directory Domains and Trusts</a:t>
            </a:r>
          </a:p>
          <a:p>
            <a:pPr lvl="1"/>
            <a:r>
              <a:rPr lang="en-US" sz="2400" dirty="0"/>
              <a:t>Active Directory Sites and Services</a:t>
            </a:r>
          </a:p>
          <a:p>
            <a:pPr lvl="1"/>
            <a:r>
              <a:rPr lang="en-US" sz="2400" dirty="0"/>
              <a:t>Active Directory Administrative Center</a:t>
            </a:r>
          </a:p>
          <a:p>
            <a:pPr lvl="1"/>
            <a:r>
              <a:rPr lang="en-US" sz="2400" dirty="0"/>
              <a:t>Group Policy Management Console (GPMC)</a:t>
            </a:r>
            <a:endParaRPr lang="en-US" sz="2400" dirty="0"/>
          </a:p>
        </p:txBody>
      </p:sp>
      <p:sp>
        <p:nvSpPr>
          <p:cNvPr id="2" name="Title 1"/>
          <p:cNvSpPr>
            <a:spLocks noGrp="1"/>
          </p:cNvSpPr>
          <p:nvPr>
            <p:ph type="title"/>
          </p:nvPr>
        </p:nvSpPr>
        <p:spPr/>
        <p:txBody>
          <a:bodyPr/>
          <a:lstStyle/>
          <a:p>
            <a:r>
              <a:rPr lang="en-US" dirty="0" smtClean="0"/>
              <a:t>DEMO: Active </a:t>
            </a:r>
            <a:r>
              <a:rPr lang="en-US" dirty="0" smtClean="0"/>
              <a:t>Directory Management Tools</a:t>
            </a:r>
            <a:endParaRPr lang="en-US" dirty="0"/>
          </a:p>
        </p:txBody>
      </p:sp>
    </p:spTree>
    <p:extLst>
      <p:ext uri="{BB962C8B-B14F-4D97-AF65-F5344CB8AC3E}">
        <p14:creationId xmlns:p14="http://schemas.microsoft.com/office/powerpoint/2010/main" val="29299347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AD Objects</a:t>
            </a:r>
            <a:endParaRPr lang="en-US" dirty="0"/>
          </a:p>
        </p:txBody>
      </p:sp>
      <p:sp>
        <p:nvSpPr>
          <p:cNvPr id="7" name="Content Placeholder 2"/>
          <p:cNvSpPr>
            <a:spLocks noGrp="1"/>
          </p:cNvSpPr>
          <p:nvPr>
            <p:ph type="body" sz="quarter" idx="10"/>
          </p:nvPr>
        </p:nvSpPr>
        <p:spPr>
          <a:xfrm>
            <a:off x="269239" y="1189177"/>
            <a:ext cx="11653523" cy="1477328"/>
          </a:xfrm>
        </p:spPr>
        <p:txBody>
          <a:bodyPr/>
          <a:lstStyle/>
          <a:p>
            <a:r>
              <a:rPr lang="en-US" altLang="en-US" dirty="0" smtClean="0"/>
              <a:t>Users</a:t>
            </a:r>
          </a:p>
          <a:p>
            <a:r>
              <a:rPr lang="en-US" altLang="en-US" dirty="0" smtClean="0"/>
              <a:t>Groups (Types and Scopes)</a:t>
            </a:r>
          </a:p>
          <a:p>
            <a:r>
              <a:rPr lang="en-US" altLang="en-US" dirty="0" smtClean="0"/>
              <a:t>Computers</a:t>
            </a:r>
          </a:p>
          <a:p>
            <a:r>
              <a:rPr lang="en-US" altLang="en-US" dirty="0" smtClean="0"/>
              <a:t>Organizational Units</a:t>
            </a:r>
          </a:p>
        </p:txBody>
      </p:sp>
      <p:pic>
        <p:nvPicPr>
          <p:cNvPr id="3" name="Picture 2"/>
          <p:cNvPicPr>
            <a:picLocks noChangeAspect="1"/>
          </p:cNvPicPr>
          <p:nvPr/>
        </p:nvPicPr>
        <p:blipFill>
          <a:blip r:embed="rId2"/>
          <a:stretch>
            <a:fillRect/>
          </a:stretch>
        </p:blipFill>
        <p:spPr>
          <a:xfrm>
            <a:off x="1905000" y="3276600"/>
            <a:ext cx="1323830" cy="1575000"/>
          </a:xfrm>
          <a:prstGeom prst="rect">
            <a:avLst/>
          </a:prstGeom>
        </p:spPr>
      </p:pic>
      <p:pic>
        <p:nvPicPr>
          <p:cNvPr id="4" name="Picture 3"/>
          <p:cNvPicPr>
            <a:picLocks noChangeAspect="1"/>
          </p:cNvPicPr>
          <p:nvPr/>
        </p:nvPicPr>
        <p:blipFill>
          <a:blip r:embed="rId3"/>
          <a:stretch>
            <a:fillRect/>
          </a:stretch>
        </p:blipFill>
        <p:spPr>
          <a:xfrm>
            <a:off x="4953000" y="4648200"/>
            <a:ext cx="1575988" cy="1575000"/>
          </a:xfrm>
          <a:prstGeom prst="rect">
            <a:avLst/>
          </a:prstGeom>
        </p:spPr>
      </p:pic>
      <p:pic>
        <p:nvPicPr>
          <p:cNvPr id="5" name="Picture 4"/>
          <p:cNvPicPr>
            <a:picLocks noChangeAspect="1"/>
          </p:cNvPicPr>
          <p:nvPr/>
        </p:nvPicPr>
        <p:blipFill>
          <a:blip r:embed="rId4"/>
          <a:stretch>
            <a:fillRect/>
          </a:stretch>
        </p:blipFill>
        <p:spPr>
          <a:xfrm>
            <a:off x="8077200" y="2233185"/>
            <a:ext cx="2080305" cy="1811250"/>
          </a:xfrm>
          <a:prstGeom prst="rect">
            <a:avLst/>
          </a:prstGeom>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5" name="Content Placeholder 2"/>
          <p:cNvSpPr>
            <a:spLocks noGrp="1"/>
          </p:cNvSpPr>
          <p:nvPr>
            <p:ph type="body" sz="quarter" idx="10"/>
          </p:nvPr>
        </p:nvSpPr>
        <p:spPr/>
        <p:txBody>
          <a:bodyPr/>
          <a:lstStyle/>
          <a:p>
            <a:r>
              <a:rPr lang="en-US" altLang="en-US" smtClean="0"/>
              <a:t>Group Policy is one of the most powerful features of Active Directory that controls the working environment for user accounts and computer accounts. </a:t>
            </a:r>
          </a:p>
          <a:p>
            <a:r>
              <a:rPr lang="en-US" altLang="en-US" smtClean="0"/>
              <a:t>Group Policy provides centralized management and configuration of operating systems, applications, and user settings in an Active Directory environment. </a:t>
            </a:r>
          </a:p>
        </p:txBody>
      </p:sp>
      <p:sp>
        <p:nvSpPr>
          <p:cNvPr id="2" name="Title 1"/>
          <p:cNvSpPr>
            <a:spLocks noGrp="1"/>
          </p:cNvSpPr>
          <p:nvPr>
            <p:ph type="title"/>
          </p:nvPr>
        </p:nvSpPr>
        <p:spPr/>
        <p:txBody>
          <a:bodyPr/>
          <a:lstStyle/>
          <a:p>
            <a:r>
              <a:rPr lang="en-US" smtClean="0"/>
              <a:t>Group Policies</a:t>
            </a:r>
            <a:endParaRPr lang="en-US"/>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5" name="Content Placeholder 2"/>
          <p:cNvSpPr>
            <a:spLocks noGrp="1"/>
          </p:cNvSpPr>
          <p:nvPr>
            <p:ph type="body" sz="quarter" idx="10"/>
          </p:nvPr>
        </p:nvSpPr>
        <p:spPr/>
        <p:txBody>
          <a:bodyPr/>
          <a:lstStyle/>
          <a:p>
            <a:r>
              <a:rPr lang="en-US" smtClean="0"/>
              <a:t>Group Policy can be set locally on a workstation or set at different levels (site, domain, or organizational unit) within Active Directory. </a:t>
            </a:r>
          </a:p>
          <a:p>
            <a:r>
              <a:rPr lang="en-US" smtClean="0"/>
              <a:t>Generally speaking, you will not find as many settings locally as you will at the site, domain, or OU level. When group policies are applied, they are applied in the following order:</a:t>
            </a:r>
          </a:p>
          <a:p>
            <a:pPr lvl="1"/>
            <a:r>
              <a:rPr lang="en-US" smtClean="0"/>
              <a:t>Local</a:t>
            </a:r>
          </a:p>
          <a:p>
            <a:pPr lvl="1"/>
            <a:r>
              <a:rPr lang="en-US" smtClean="0"/>
              <a:t>Site</a:t>
            </a:r>
          </a:p>
          <a:p>
            <a:pPr lvl="1"/>
            <a:r>
              <a:rPr lang="en-US" smtClean="0"/>
              <a:t>Domain</a:t>
            </a:r>
          </a:p>
          <a:p>
            <a:pPr lvl="1"/>
            <a:r>
              <a:rPr lang="en-US" smtClean="0"/>
              <a:t>OU</a:t>
            </a:r>
          </a:p>
          <a:p>
            <a:endParaRPr lang="en-US"/>
          </a:p>
        </p:txBody>
      </p:sp>
      <p:sp>
        <p:nvSpPr>
          <p:cNvPr id="2" name="Title 1"/>
          <p:cNvSpPr>
            <a:spLocks noGrp="1"/>
          </p:cNvSpPr>
          <p:nvPr>
            <p:ph type="title"/>
          </p:nvPr>
        </p:nvSpPr>
        <p:spPr/>
        <p:txBody>
          <a:bodyPr/>
          <a:lstStyle/>
          <a:p>
            <a:r>
              <a:rPr lang="en-US" smtClean="0"/>
              <a:t>Apply Group Policies</a:t>
            </a:r>
            <a:endParaRPr lang="en-US"/>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Group Policies</a:t>
            </a:r>
            <a:endParaRPr lang="en-US" dirty="0"/>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1">
              <a:defRPr/>
            </a:pPr>
            <a:endParaRPr lang="en-US" sz="1765" smtClean="0"/>
          </a:p>
          <a:p>
            <a:pPr>
              <a:defRPr/>
            </a:pPr>
            <a:endParaRPr sz="3921" dirty="0"/>
          </a:p>
        </p:txBody>
      </p:sp>
      <p:sp>
        <p:nvSpPr>
          <p:cNvPr id="3" name="Title 2"/>
          <p:cNvSpPr>
            <a:spLocks noGrp="1"/>
          </p:cNvSpPr>
          <p:nvPr>
            <p:ph type="title"/>
          </p:nvPr>
        </p:nvSpPr>
        <p:spPr/>
        <p:txBody>
          <a:bodyPr/>
          <a:lstStyle/>
          <a:p>
            <a:pPr defTabSz="685845" fontAlgn="auto">
              <a:spcAft>
                <a:spcPts val="0"/>
              </a:spcAft>
              <a:defRPr/>
            </a:pPr>
            <a:r>
              <a:rPr sz="3971" smtClean="0"/>
              <a:t>Additional Resources &amp; Next Steps</a:t>
            </a:r>
            <a:endParaRPr sz="3971" dirty="0"/>
          </a:p>
        </p:txBody>
      </p:sp>
      <p:sp>
        <p:nvSpPr>
          <p:cNvPr id="4" name="TextBox 3"/>
          <p:cNvSpPr txBox="1"/>
          <p:nvPr/>
        </p:nvSpPr>
        <p:spPr>
          <a:xfrm>
            <a:off x="457200" y="4267200"/>
            <a:ext cx="3352800" cy="2200275"/>
          </a:xfrm>
          <a:prstGeom prst="rect">
            <a:avLst/>
          </a:prstGeom>
          <a:solidFill>
            <a:schemeClr val="accent6"/>
          </a:solidFill>
        </p:spPr>
        <p:txBody>
          <a:bodyPr lIns="182880" tIns="146304" rIns="182880" bIns="146304"/>
          <a:lstStyle/>
          <a:p>
            <a:pPr eaLnBrk="1" hangingPunct="1">
              <a:lnSpc>
                <a:spcPct val="90000"/>
              </a:lnSpc>
              <a:spcAft>
                <a:spcPts val="600"/>
              </a:spcAft>
              <a:defRPr/>
            </a:pPr>
            <a:r>
              <a:rPr lang="en-US" sz="3200" u="sng" dirty="0">
                <a:solidFill>
                  <a:srgbClr val="FFFFFF">
                    <a:lumMod val="95000"/>
                  </a:srgbClr>
                </a:solidFill>
                <a:latin typeface="Segoe UI Light"/>
              </a:rPr>
              <a:t>Books</a:t>
            </a:r>
          </a:p>
          <a:p>
            <a:pPr marL="342900" indent="-342900" eaLnBrk="1" hangingPunct="1">
              <a:lnSpc>
                <a:spcPct val="90000"/>
              </a:lnSpc>
              <a:spcAft>
                <a:spcPts val="600"/>
              </a:spcAft>
              <a:buFont typeface="Arial" panose="020B0604020202020204" pitchFamily="34" charset="0"/>
              <a:buChar char="•"/>
              <a:defRPr/>
            </a:pPr>
            <a:r>
              <a:rPr lang="en-US" sz="2000" dirty="0">
                <a:solidFill>
                  <a:srgbClr val="FFFFFF">
                    <a:lumMod val="95000"/>
                  </a:srgbClr>
                </a:solidFill>
                <a:latin typeface="Segoe UI Light"/>
              </a:rPr>
              <a:t>Exam 98-366: MTA Networking Fundamentals (Microsoft Official Academic Course)</a:t>
            </a:r>
          </a:p>
        </p:txBody>
      </p:sp>
      <p:sp>
        <p:nvSpPr>
          <p:cNvPr id="63493" name="TextBox 4"/>
          <p:cNvSpPr txBox="1">
            <a:spLocks noChangeArrowheads="1"/>
          </p:cNvSpPr>
          <p:nvPr/>
        </p:nvSpPr>
        <p:spPr bwMode="auto">
          <a:xfrm>
            <a:off x="2933700" y="1143000"/>
            <a:ext cx="6324600" cy="3754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2880" tIns="146304" rIns="182880" bIns="146304"/>
          <a:lstStyle>
            <a:lvl1pPr defTabSz="685800">
              <a:defRPr>
                <a:solidFill>
                  <a:schemeClr val="tx1"/>
                </a:solidFill>
                <a:latin typeface="Arial" panose="020B0604020202020204" pitchFamily="34" charset="0"/>
              </a:defRPr>
            </a:lvl1pPr>
            <a:lvl2pPr marL="428625" indent="-176213"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buSzPct val="90000"/>
            </a:pPr>
            <a:r>
              <a:rPr lang="en-US" altLang="en-US" sz="3200" u="sng">
                <a:solidFill>
                  <a:srgbClr val="F2F2F2"/>
                </a:solidFill>
                <a:latin typeface="Segoe UI Light" panose="020B0502040204020203" pitchFamily="34" charset="0"/>
              </a:rPr>
              <a:t>Instructor-Led Courses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40033A: Windows Operating System and Windows Server Fundamentals: Training 2-Pack for MTA Exams 98-349 and 98-365 (5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40349A: Windows Operating System Fundamentals: MTA Exam 98-349 (3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40032A: Networking and Security Fundamentals: Training 2-Pack for MTA Exams 98-366 and 98-367 (5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40366A: Networking Fundamentals: MTA Exam 98-366</a:t>
            </a:r>
          </a:p>
        </p:txBody>
      </p:sp>
      <p:sp>
        <p:nvSpPr>
          <p:cNvPr id="6" name="TextBox 5"/>
          <p:cNvSpPr txBox="1"/>
          <p:nvPr/>
        </p:nvSpPr>
        <p:spPr>
          <a:xfrm>
            <a:off x="8593138" y="4486275"/>
            <a:ext cx="2971800" cy="2074863"/>
          </a:xfrm>
          <a:prstGeom prst="rect">
            <a:avLst/>
          </a:prstGeom>
          <a:solidFill>
            <a:schemeClr val="accent6"/>
          </a:solidFill>
        </p:spPr>
        <p:txBody>
          <a:bodyPr lIns="182880" tIns="146304" rIns="182880" bIns="146304"/>
          <a:lstStyle/>
          <a:p>
            <a:pPr defTabSz="685845" eaLnBrk="1" fontAlgn="auto" hangingPunct="1">
              <a:lnSpc>
                <a:spcPct val="90000"/>
              </a:lnSpc>
              <a:spcBef>
                <a:spcPct val="20000"/>
              </a:spcBef>
              <a:spcAft>
                <a:spcPts val="0"/>
              </a:spcAft>
              <a:buSzPct val="90000"/>
              <a:defRPr/>
            </a:pPr>
            <a:r>
              <a:rPr lang="en-US" sz="3200" u="sng" dirty="0">
                <a:solidFill>
                  <a:srgbClr val="FFFFFF">
                    <a:lumMod val="95000"/>
                  </a:srgbClr>
                </a:solidFill>
                <a:latin typeface="Segoe UI Light"/>
              </a:rPr>
              <a:t>Exams &amp; Certifications</a:t>
            </a:r>
            <a:endParaRPr lang="en-US" sz="3200" dirty="0">
              <a:solidFill>
                <a:srgbClr val="FFFFFF">
                  <a:lumMod val="95000"/>
                </a:srgbClr>
              </a:solidFill>
              <a:latin typeface="Segoe UI Light"/>
            </a:endParaRPr>
          </a:p>
          <a:p>
            <a:pPr marL="429562" lvl="1" indent="-177428" defTabSz="685845" eaLnBrk="1" fontAlgn="auto" hangingPunct="1">
              <a:lnSpc>
                <a:spcPct val="90000"/>
              </a:lnSpc>
              <a:spcBef>
                <a:spcPct val="20000"/>
              </a:spcBef>
              <a:spcAft>
                <a:spcPts val="0"/>
              </a:spcAft>
              <a:buSzPct val="90000"/>
              <a:buFont typeface="Arial" pitchFamily="34" charset="0"/>
              <a:buChar char="•"/>
              <a:defRPr/>
            </a:pPr>
            <a:r>
              <a:rPr lang="en-US" sz="2000" dirty="0">
                <a:solidFill>
                  <a:srgbClr val="FFFFFF">
                    <a:lumMod val="95000"/>
                  </a:srgbClr>
                </a:solidFill>
                <a:latin typeface="Segoe UI Light"/>
              </a:rPr>
              <a:t>Exam 98-366: Networking Fundamentals</a:t>
            </a:r>
          </a:p>
        </p:txBody>
      </p:sp>
      <p:pic>
        <p:nvPicPr>
          <p:cNvPr id="6349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43838" y="254000"/>
            <a:ext cx="1497012"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6"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61613" y="2743200"/>
            <a:ext cx="102235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7"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0050" y="2743200"/>
            <a:ext cx="12017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blackWhite">
          <a:xfrm>
            <a:off x="228600" y="5818252"/>
            <a:ext cx="11734799" cy="712135"/>
          </a:xfrm>
          <a:prstGeom prst="rect">
            <a:avLst/>
          </a:prstGeom>
          <a:noFill/>
          <a:ln w="12700">
            <a:noFill/>
            <a:miter lim="800000"/>
            <a:headEnd type="none" w="sm" len="sm"/>
            <a:tailEnd type="none" w="sm" len="sm"/>
          </a:ln>
          <a:effectLst/>
        </p:spPr>
        <p:txBody>
          <a:bodyPr lIns="179300" tIns="143440" rIns="179300" bIns="143440">
            <a:spAutoFit/>
          </a:bodyPr>
          <a:lstStyle/>
          <a:p>
            <a:pPr algn="r" defTabSz="914017" eaLnBrk="1" hangingPunct="1">
              <a:defRPr/>
            </a:pPr>
            <a:r>
              <a:rPr lang="en-US" sz="686" dirty="0">
                <a:gradFill>
                  <a:gsLst>
                    <a:gs pos="0">
                      <a:srgbClr val="FFFFFF"/>
                    </a:gs>
                    <a:gs pos="100000">
                      <a:srgbClr val="FFFFFF"/>
                    </a:gs>
                  </a:gsLst>
                  <a:lin ang="5400000" scaled="0"/>
                </a:gradFill>
                <a:cs typeface="Segoe UI" pitchFamily="34" charset="0"/>
              </a:rPr>
              <a:t>© 2012 Microsoft Corporation. All rights reserved. Microsoft, Windows, Windows Vista and other product names are or may be registered trademarks and/or trademarks in the U.S. and/or other countries.</a:t>
            </a:r>
          </a:p>
          <a:p>
            <a:pPr algn="r" defTabSz="914017" eaLnBrk="1" hangingPunct="1">
              <a:defRPr/>
            </a:pPr>
            <a:r>
              <a:rPr lang="en-US" sz="686"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686" dirty="0">
                <a:gradFill>
                  <a:gsLst>
                    <a:gs pos="0">
                      <a:srgbClr val="FFFFFF"/>
                    </a:gs>
                    <a:gs pos="100000">
                      <a:srgbClr val="FFFFFF"/>
                    </a:gs>
                  </a:gsLst>
                  <a:lin ang="5400000" scaled="0"/>
                </a:gradFill>
                <a:cs typeface="Segoe UI" pitchFamily="34" charset="0"/>
              </a:rPr>
            </a:br>
            <a:r>
              <a:rPr lang="en-US" sz="686" dirty="0">
                <a:gradFill>
                  <a:gsLst>
                    <a:gs pos="0">
                      <a:srgbClr val="FFFFFF"/>
                    </a:gs>
                    <a:gs pos="100000">
                      <a:srgbClr val="FFFFFF"/>
                    </a:gs>
                  </a:gsLst>
                  <a:lin ang="5400000" scaled="0"/>
                </a:gradFill>
                <a:cs typeface="Segoe UI" pitchFamily="34" charset="0"/>
              </a:rPr>
              <a:t>MICROSOFT MAKES NO WARRANTIES, EXPRESS, IMPLIED OR STATUTORY, AS TO THE INFORMATION IN THIS PRESENTATION.</a:t>
            </a:r>
          </a:p>
        </p:txBody>
      </p:sp>
      <p:pic>
        <p:nvPicPr>
          <p:cNvPr id="6451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invGray">
          <a:xfrm>
            <a:off x="381000" y="3124200"/>
            <a:ext cx="24272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1_Microsoft_IT_Access_Strategy_16x9_External">
  <a:themeElements>
    <a:clrScheme name="Custom 328">
      <a:dk1>
        <a:srgbClr val="505050"/>
      </a:dk1>
      <a:lt1>
        <a:srgbClr val="FFFFFF"/>
      </a:lt1>
      <a:dk2>
        <a:srgbClr val="0072C6"/>
      </a:dk2>
      <a:lt2>
        <a:srgbClr val="D2D2D2"/>
      </a:lt2>
      <a:accent1>
        <a:srgbClr val="0072C6"/>
      </a:accent1>
      <a:accent2>
        <a:srgbClr val="008272"/>
      </a:accent2>
      <a:accent3>
        <a:srgbClr val="68217A"/>
      </a:accent3>
      <a:accent4>
        <a:srgbClr val="0072C6"/>
      </a:accent4>
      <a:accent5>
        <a:srgbClr val="002050"/>
      </a:accent5>
      <a:accent6>
        <a:srgbClr val="442359"/>
      </a:accent6>
      <a:hlink>
        <a:srgbClr val="0072C6"/>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3274" tIns="46637" rIns="93274"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90316C47-89A7-4E38-A161-F1468A908C39">Draft</Status>
    <Content_x0020_Type xmlns="90316C47-89A7-4E38-A161-F1468A908C39">Slide Presentation</Content_x0020_Type>
    <Module xmlns="90316C47-89A7-4E38-A161-F1468A908C39">5</Module>
  </documentManagement>
</p:properti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CD1552FCE8DAE49AB00DD8999ECFBA4" ma:contentTypeVersion="" ma:contentTypeDescription="Create a new document." ma:contentTypeScope="" ma:versionID="9fe3c7892d329891ad334a1bdc48c8b5">
  <xsd:schema xmlns:xsd="http://www.w3.org/2001/XMLSchema" xmlns:xs="http://www.w3.org/2001/XMLSchema" xmlns:p="http://schemas.microsoft.com/office/2006/metadata/properties" xmlns:ns2="90316C47-89A7-4E38-A161-F1468A908C39" targetNamespace="http://schemas.microsoft.com/office/2006/metadata/properties" ma:root="true" ma:fieldsID="1b9c2fb9641548b6b16294187cab1b6e" ns2:_="">
    <xsd:import namespace="90316C47-89A7-4E38-A161-F1468A908C39"/>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316C47-89A7-4E38-A161-F1468A908C39"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
          <xsd:enumeration value="Promo Package"/>
          <xsd:enumeration value="Slide Presentation"/>
          <xsd:enumeration value="Slide Presentation Policheck"/>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AD2625-C0C2-4DC6-9817-97A61EBD2192}"/>
</file>

<file path=customXml/itemProps2.xml><?xml version="1.0" encoding="utf-8"?>
<ds:datastoreItem xmlns:ds="http://schemas.openxmlformats.org/officeDocument/2006/customXml" ds:itemID="{995C39C5-036B-4FE5-84F1-6012D4F8DCA3}"/>
</file>

<file path=customXml/itemProps3.xml><?xml version="1.0" encoding="utf-8"?>
<ds:datastoreItem xmlns:ds="http://schemas.openxmlformats.org/officeDocument/2006/customXml" ds:itemID="{80446FA3-B1BA-403F-82FE-1975BD06351E}"/>
</file>

<file path=customXml/itemProps4.xml><?xml version="1.0" encoding="utf-8"?>
<ds:datastoreItem xmlns:ds="http://schemas.openxmlformats.org/officeDocument/2006/customXml" ds:itemID="{B006BEE7-8AFE-47A2-958F-7D1A7F07A60F}"/>
</file>

<file path=docProps/app.xml><?xml version="1.0" encoding="utf-8"?>
<Properties xmlns="http://schemas.openxmlformats.org/officeDocument/2006/extended-properties" xmlns:vt="http://schemas.openxmlformats.org/officeDocument/2006/docPropsVTypes">
  <Template/>
  <TotalTime>3594</TotalTime>
  <Words>2438</Words>
  <Application>Microsoft Office PowerPoint</Application>
  <PresentationFormat>Widescreen</PresentationFormat>
  <Paragraphs>207</Paragraphs>
  <Slides>37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Franklin Gothic Book</vt:lpstr>
      <vt:lpstr>Segoe UI</vt:lpstr>
      <vt:lpstr>Segoe UI Light</vt:lpstr>
      <vt:lpstr>Segoe UI Semibold</vt:lpstr>
      <vt:lpstr>1_Microsoft_IT_Access_Strategy_16x9_External</vt:lpstr>
      <vt:lpstr>Essential Services</vt:lpstr>
      <vt:lpstr>Objectives</vt:lpstr>
      <vt:lpstr>Name Resolution</vt:lpstr>
      <vt:lpstr>DEMO: HOST File</vt:lpstr>
      <vt:lpstr>Domain Name System</vt:lpstr>
      <vt:lpstr>DNS Zones Types</vt:lpstr>
      <vt:lpstr>DEMO: DNS</vt:lpstr>
      <vt:lpstr>DNS Round Robin</vt:lpstr>
      <vt:lpstr>DNQ Queries and Transfers</vt:lpstr>
      <vt:lpstr>Windows Internet Service (WINS)</vt:lpstr>
      <vt:lpstr>DHCP</vt:lpstr>
      <vt:lpstr>DEMO: DHCP</vt:lpstr>
      <vt:lpstr>Directory Services</vt:lpstr>
      <vt:lpstr>Active Directory</vt:lpstr>
      <vt:lpstr>Active Directory Logical Structure</vt:lpstr>
      <vt:lpstr>Physical Structure</vt:lpstr>
      <vt:lpstr>Member Server</vt:lpstr>
      <vt:lpstr>Global Catalogs</vt:lpstr>
      <vt:lpstr>FSMO Roles</vt:lpstr>
      <vt:lpstr>FSMO Roles</vt:lpstr>
      <vt:lpstr>Functional Levels</vt:lpstr>
      <vt:lpstr>Delegation of Control</vt:lpstr>
      <vt:lpstr>Active Directory Objects</vt:lpstr>
      <vt:lpstr>User Accounts</vt:lpstr>
      <vt:lpstr>Permissions</vt:lpstr>
      <vt:lpstr>Computer Accounts</vt:lpstr>
      <vt:lpstr>Groups</vt:lpstr>
      <vt:lpstr>Using Groups</vt:lpstr>
      <vt:lpstr>Built-In Groups</vt:lpstr>
      <vt:lpstr>Active Directory Management Tools</vt:lpstr>
      <vt:lpstr>DEMO: Active Directory Management Tools</vt:lpstr>
      <vt:lpstr>DEMO: AD Objects</vt:lpstr>
      <vt:lpstr>Group Policies</vt:lpstr>
      <vt:lpstr>Apply Group Policies</vt:lpstr>
      <vt:lpstr>DEMO: Group Policies</vt:lpstr>
      <vt:lpstr>Additional Resources &amp; Next Steps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Cat Skintik</dc:creator>
  <cp:lastModifiedBy>Christopher</cp:lastModifiedBy>
  <cp:revision>315</cp:revision>
  <dcterms:created xsi:type="dcterms:W3CDTF">2007-01-10T19:14:18Z</dcterms:created>
  <dcterms:modified xsi:type="dcterms:W3CDTF">2014-07-03T15:38:02Z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0x010100DCD1552FCE8DAE49AB00DD8999ECFBA4</vt:lpwstr>
  </property>
</Properties>
</file>