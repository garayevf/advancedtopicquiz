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comment1.xml" ContentType="application/vnd.openxmlformats-officedocument.presentationml.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3" r:id="rId5"/>
  </p:sldMasterIdLst>
  <p:notesMasterIdLst>
    <p:notesMasterId r:id="rId33"/>
  </p:notesMasterIdLst>
  <p:sldIdLst>
    <p:sldId id="377" r:id="rId6"/>
    <p:sldId id="378" r:id="rId7"/>
    <p:sldId id="310" r:id="rId8"/>
    <p:sldId id="307" r:id="rId9"/>
    <p:sldId id="308" r:id="rId10"/>
    <p:sldId id="379" r:id="rId11"/>
    <p:sldId id="313" r:id="rId12"/>
    <p:sldId id="314" r:id="rId13"/>
    <p:sldId id="316" r:id="rId14"/>
    <p:sldId id="318" r:id="rId15"/>
    <p:sldId id="320" r:id="rId16"/>
    <p:sldId id="321" r:id="rId17"/>
    <p:sldId id="329" r:id="rId18"/>
    <p:sldId id="331" r:id="rId19"/>
    <p:sldId id="336" r:id="rId20"/>
    <p:sldId id="338" r:id="rId21"/>
    <p:sldId id="337" r:id="rId22"/>
    <p:sldId id="341" r:id="rId23"/>
    <p:sldId id="334" r:id="rId24"/>
    <p:sldId id="344" r:id="rId25"/>
    <p:sldId id="352" r:id="rId26"/>
    <p:sldId id="358" r:id="rId27"/>
    <p:sldId id="360" r:id="rId28"/>
    <p:sldId id="366" r:id="rId29"/>
    <p:sldId id="370" r:id="rId30"/>
    <p:sldId id="375" r:id="rId31"/>
    <p:sldId id="376" r:id="rId3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008">
          <p15:clr>
            <a:srgbClr val="A4A3A4"/>
          </p15:clr>
        </p15:guide>
        <p15:guide id="2" pos="384">
          <p15:clr>
            <a:srgbClr val="A4A3A4"/>
          </p15:clr>
        </p15:guide>
        <p15:guide id="3" pos="7232">
          <p15:clr>
            <a:srgbClr val="A4A3A4"/>
          </p15:clr>
        </p15:guide>
        <p15:guide id="4" pos="4003">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omas Willingham" initials="TW" lastIdx="1" clrIdx="0">
    <p:extLst>
      <p:ext uri="{19B8F6BF-5375-455C-9EA6-DF929625EA0E}">
        <p15:presenceInfo xmlns:p15="http://schemas.microsoft.com/office/powerpoint/2012/main" userId="S-1-5-21-2127521184-1604012920-1887927527-468321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C6"/>
    <a:srgbClr val="000066"/>
    <a:srgbClr val="0000CC"/>
    <a:srgbClr val="0000FF"/>
    <a:srgbClr val="DECD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5" autoAdjust="0"/>
    <p:restoredTop sz="90603" autoAdjust="0"/>
  </p:normalViewPr>
  <p:slideViewPr>
    <p:cSldViewPr>
      <p:cViewPr varScale="1">
        <p:scale>
          <a:sx n="78" d="100"/>
          <a:sy n="78" d="100"/>
        </p:scale>
        <p:origin x="893" y="58"/>
      </p:cViewPr>
      <p:guideLst>
        <p:guide orient="horz" pos="1008"/>
        <p:guide pos="384"/>
        <p:guide pos="7232"/>
        <p:guide pos="4003"/>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3-12-06T13:04:54.471" idx="1">
    <p:pos x="3182" y="1942"/>
    <p:text>Maybe a graphic that illustrates where device drivers work, or maybe a graphic of how they work?
http://technet.microsoft.com/en-us/library/cc776246(v=WS.10).aspx</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32DF6CC9-E0B2-4E88-AF3F-FC8344201E17}" type="datetimeFigureOut">
              <a:rPr lang="en-US"/>
              <a:pPr>
                <a:defRPr/>
              </a:pPr>
              <a:t>12/5/2023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CE325BE-DA35-42E3-9AF5-505E9BBA3EEA}" type="slidenum">
              <a:rPr lang="en-US"/>
              <a:pPr>
                <a:defRPr/>
              </a:pPr>
              <a:t>‹#›</a:t>
            </a:fld>
            <a:endParaRPr lang="en-US"/>
          </a:p>
        </p:txBody>
      </p:sp>
    </p:spTree>
    <p:extLst>
      <p:ext uri="{BB962C8B-B14F-4D97-AF65-F5344CB8AC3E}">
        <p14:creationId xmlns:p14="http://schemas.microsoft.com/office/powerpoint/2010/main" val="27803578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61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61CA881-E802-40C7-8791-08107AB20ACB}" type="slidenum">
              <a:rPr lang="en-US" altLang="en-US" smtClean="0">
                <a:solidFill>
                  <a:srgbClr val="000000"/>
                </a:solidFill>
                <a:latin typeface="Arial" panose="020B0604020202020204" pitchFamily="34" charset="0"/>
              </a:rPr>
              <a:pPr>
                <a:spcBef>
                  <a:spcPct val="0"/>
                </a:spcBef>
              </a:pPr>
              <a:t>1</a:t>
            </a:fld>
            <a:endParaRPr lang="en-US" altLang="en-US">
              <a:solidFill>
                <a:srgbClr val="000000"/>
              </a:solidFill>
              <a:latin typeface="Arial" panose="020B0604020202020204" pitchFamily="34" charset="0"/>
            </a:endParaRPr>
          </a:p>
        </p:txBody>
      </p:sp>
    </p:spTree>
    <p:extLst>
      <p:ext uri="{BB962C8B-B14F-4D97-AF65-F5344CB8AC3E}">
        <p14:creationId xmlns:p14="http://schemas.microsoft.com/office/powerpoint/2010/main" val="2484651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This should also be a review for the 70-642.</a:t>
            </a:r>
          </a:p>
          <a:p>
            <a:pPr eaLnBrk="1" hangingPunct="1"/>
            <a:endParaRPr lang="en-US" altLang="en-US" dirty="0"/>
          </a:p>
        </p:txBody>
      </p:sp>
    </p:spTree>
    <p:extLst>
      <p:ext uri="{BB962C8B-B14F-4D97-AF65-F5344CB8AC3E}">
        <p14:creationId xmlns:p14="http://schemas.microsoft.com/office/powerpoint/2010/main" val="715375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70000" lnSpcReduction="20000"/>
          </a:bodyPr>
          <a:lstStyle/>
          <a:p>
            <a:pPr>
              <a:defRPr/>
            </a:pPr>
            <a:r>
              <a:rPr lang="en-US"/>
              <a:t>Because the UAC is designed to make sure that unauthorized changes are not made, especially by malicious software that you may not know you are running, you need to read the warnings carefully and then make sure the name of the action or program that’s about to start is one that you intended to start.</a:t>
            </a:r>
          </a:p>
          <a:p>
            <a:pPr>
              <a:defRPr/>
            </a:pPr>
            <a:r>
              <a:rPr lang="en-US"/>
              <a:t>UAC cannot be enabled or disabled for any individual user account. </a:t>
            </a:r>
          </a:p>
          <a:p>
            <a:pPr>
              <a:defRPr/>
            </a:pPr>
            <a:r>
              <a:rPr lang="en-US"/>
              <a:t>Instead, you enable or disable UAC for the entire computer. </a:t>
            </a:r>
          </a:p>
          <a:p>
            <a:pPr>
              <a:defRPr/>
            </a:pPr>
            <a:r>
              <a:rPr lang="en-US" sz="2800"/>
              <a:t>As a standard user, in Windows Server 2008 R2, you can do the following without requiring administrative permissions or rights:</a:t>
            </a:r>
          </a:p>
          <a:p>
            <a:pPr lvl="1">
              <a:defRPr/>
            </a:pPr>
            <a:r>
              <a:rPr lang="en-US" sz="2800"/>
              <a:t>Install updates from Windows Update.</a:t>
            </a:r>
          </a:p>
          <a:p>
            <a:pPr lvl="1">
              <a:defRPr/>
            </a:pPr>
            <a:r>
              <a:rPr lang="en-US" sz="2800"/>
              <a:t>Install drivers from Windows Update or those that are included with the operating system.</a:t>
            </a:r>
          </a:p>
          <a:p>
            <a:pPr lvl="1">
              <a:defRPr/>
            </a:pPr>
            <a:r>
              <a:rPr lang="en-US" sz="2800"/>
              <a:t>View Windows settings.</a:t>
            </a:r>
          </a:p>
          <a:p>
            <a:pPr lvl="1">
              <a:defRPr/>
            </a:pPr>
            <a:r>
              <a:rPr lang="en-US" sz="2800"/>
              <a:t>Pair Bluetooth devices with the computer.</a:t>
            </a:r>
          </a:p>
          <a:p>
            <a:pPr lvl="1">
              <a:defRPr/>
            </a:pPr>
            <a:r>
              <a:rPr lang="en-US" sz="2800"/>
              <a:t>Reset the network adapter and perform other network diagnostic and repair tasks.</a:t>
            </a:r>
          </a:p>
          <a:p>
            <a:pPr>
              <a:defRPr/>
            </a:pPr>
            <a:endParaRPr lang="en-US"/>
          </a:p>
          <a:p>
            <a:pPr>
              <a:defRPr/>
            </a:pPr>
            <a:endParaRPr lang="en-US"/>
          </a:p>
          <a:p>
            <a:pPr>
              <a:defRPr/>
            </a:pPr>
            <a:endParaRPr lang="en-US"/>
          </a:p>
        </p:txBody>
      </p:sp>
      <p:sp>
        <p:nvSpPr>
          <p:cNvPr id="143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CEA1EE9-6C04-4CA5-9634-140204B20428}" type="slidenum">
              <a:rPr lang="en-US" altLang="en-US" smtClean="0">
                <a:latin typeface="Arial" panose="020B0604020202020204" pitchFamily="34" charset="0"/>
              </a:rPr>
              <a:pPr>
                <a:spcBef>
                  <a:spcPct val="0"/>
                </a:spcBef>
              </a:pPr>
              <a:t>3</a:t>
            </a:fld>
            <a:endParaRPr lang="en-US" altLang="en-US">
              <a:latin typeface="Arial" panose="020B0604020202020204" pitchFamily="34" charset="0"/>
            </a:endParaRPr>
          </a:p>
        </p:txBody>
      </p:sp>
    </p:spTree>
    <p:extLst>
      <p:ext uri="{BB962C8B-B14F-4D97-AF65-F5344CB8AC3E}">
        <p14:creationId xmlns:p14="http://schemas.microsoft.com/office/powerpoint/2010/main" val="192307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Because configuring Windows servers can be time consuming, Windows Server 2008 and Windows Server 2008 R2 include Initial Configuration Tasks that automatically launch when you first log on to Windows after an installation. </a:t>
            </a:r>
          </a:p>
          <a:p>
            <a:r>
              <a:rPr lang="en-US" altLang="en-US" dirty="0"/>
              <a:t>With the Initial Configuration Tasks, you can activate Windows, set the time zone, configure networks, provide computer name and domain, update Windows, add roles and features, enable remote desktop, and configure the Windows Firewall. </a:t>
            </a:r>
          </a:p>
          <a:p>
            <a:r>
              <a:rPr lang="en-US" altLang="en-US" dirty="0"/>
              <a:t>Although Initial Configuration Tasks can be accessed within the Control Panel, because it launches automatically, it acts as a reminder and a quick method to access key options so that you can quickly get your Windows server up and running with minimal effort. See Figure 2-1. The Initial Configuration Tasks will appear every time you log on until you select </a:t>
            </a:r>
            <a:r>
              <a:rPr lang="en-US" altLang="en-US" b="1" dirty="0"/>
              <a:t>Do not show this window at logon</a:t>
            </a:r>
            <a:r>
              <a:rPr lang="en-US" altLang="en-US" dirty="0"/>
              <a:t> at the bottom of the window.</a:t>
            </a:r>
          </a:p>
          <a:p>
            <a:pPr eaLnBrk="1" hangingPunct="1"/>
            <a:endParaRPr lang="en-US" altLang="en-US" dirty="0"/>
          </a:p>
          <a:p>
            <a:endParaRPr lang="en-US" altLang="en-US" dirty="0"/>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9EB5028-D242-4A4A-A12C-649AC9A2C33E}" type="slidenum">
              <a:rPr lang="en-US" altLang="en-US" smtClean="0">
                <a:latin typeface="Arial" panose="020B0604020202020204" pitchFamily="34" charset="0"/>
              </a:rPr>
              <a:pPr>
                <a:spcBef>
                  <a:spcPct val="0"/>
                </a:spcBef>
              </a:pPr>
              <a:t>4</a:t>
            </a:fld>
            <a:endParaRPr lang="en-US" altLang="en-US">
              <a:latin typeface="Arial" panose="020B0604020202020204" pitchFamily="34" charset="0"/>
            </a:endParaRPr>
          </a:p>
        </p:txBody>
      </p:sp>
    </p:spTree>
    <p:extLst>
      <p:ext uri="{BB962C8B-B14F-4D97-AF65-F5344CB8AC3E}">
        <p14:creationId xmlns:p14="http://schemas.microsoft.com/office/powerpoint/2010/main" val="3762369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As with previous versions of Windows, the main graphical utility to configure the Windows environment and hardware devices is the Control Panel. </a:t>
            </a:r>
          </a:p>
          <a:p>
            <a:r>
              <a:rPr lang="en-US" altLang="en-US"/>
              <a:t>You can also display the Control Panel in any Windows Explorer view by clicking the leftmost option button in the Address bar and selecting Control Panel. </a:t>
            </a:r>
          </a:p>
          <a:p>
            <a:endParaRPr lang="en-US" altLang="en-US"/>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A2CCAB8-E770-49B3-9FB6-DCBB7ED3490C}" type="slidenum">
              <a:rPr lang="en-US" altLang="en-US" smtClean="0">
                <a:latin typeface="Arial" panose="020B0604020202020204" pitchFamily="34" charset="0"/>
              </a:rPr>
              <a:pPr>
                <a:spcBef>
                  <a:spcPct val="0"/>
                </a:spcBef>
              </a:pPr>
              <a:t>5</a:t>
            </a:fld>
            <a:endParaRPr lang="en-US" altLang="en-US">
              <a:latin typeface="Arial" panose="020B0604020202020204" pitchFamily="34" charset="0"/>
            </a:endParaRPr>
          </a:p>
        </p:txBody>
      </p:sp>
    </p:spTree>
    <p:extLst>
      <p:ext uri="{BB962C8B-B14F-4D97-AF65-F5344CB8AC3E}">
        <p14:creationId xmlns:p14="http://schemas.microsoft.com/office/powerpoint/2010/main" val="53229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70000" lnSpcReduction="20000"/>
          </a:bodyPr>
          <a:lstStyle/>
          <a:p>
            <a:pPr>
              <a:defRPr/>
            </a:pPr>
            <a:r>
              <a:rPr lang="en-US"/>
              <a:t>Because the UAC is designed to make sure that unauthorized changes are not made, especially by malicious software that you may not know you are running, you need to read the warnings carefully and then make sure the name of the action or program that’s about to start is one that you intended to start.</a:t>
            </a:r>
          </a:p>
          <a:p>
            <a:pPr>
              <a:defRPr/>
            </a:pPr>
            <a:r>
              <a:rPr lang="en-US"/>
              <a:t>UAC cannot be enabled or disabled for any individual user account. </a:t>
            </a:r>
          </a:p>
          <a:p>
            <a:pPr>
              <a:defRPr/>
            </a:pPr>
            <a:r>
              <a:rPr lang="en-US"/>
              <a:t>Instead, you enable or disable UAC for the entire computer. </a:t>
            </a:r>
          </a:p>
          <a:p>
            <a:pPr>
              <a:defRPr/>
            </a:pPr>
            <a:r>
              <a:rPr lang="en-US" sz="2800"/>
              <a:t>As a standard user, in Windows Server 2008 R2, you can do the following without requiring administrative permissions or rights:</a:t>
            </a:r>
          </a:p>
          <a:p>
            <a:pPr lvl="1">
              <a:defRPr/>
            </a:pPr>
            <a:r>
              <a:rPr lang="en-US" sz="2800"/>
              <a:t>Install updates from Windows Update.</a:t>
            </a:r>
          </a:p>
          <a:p>
            <a:pPr lvl="1">
              <a:defRPr/>
            </a:pPr>
            <a:r>
              <a:rPr lang="en-US" sz="2800"/>
              <a:t>Install drivers from Windows Update or those that are included with the operating system.</a:t>
            </a:r>
          </a:p>
          <a:p>
            <a:pPr lvl="1">
              <a:defRPr/>
            </a:pPr>
            <a:r>
              <a:rPr lang="en-US" sz="2800"/>
              <a:t>View Windows settings.</a:t>
            </a:r>
          </a:p>
          <a:p>
            <a:pPr lvl="1">
              <a:defRPr/>
            </a:pPr>
            <a:r>
              <a:rPr lang="en-US" sz="2800"/>
              <a:t>Pair Bluetooth devices with the computer.</a:t>
            </a:r>
          </a:p>
          <a:p>
            <a:pPr lvl="1">
              <a:defRPr/>
            </a:pPr>
            <a:r>
              <a:rPr lang="en-US" sz="2800"/>
              <a:t>Reset the network adapter and perform other network diagnostic and repair tasks.</a:t>
            </a:r>
          </a:p>
          <a:p>
            <a:pPr>
              <a:defRPr/>
            </a:pPr>
            <a:endParaRPr lang="en-US"/>
          </a:p>
          <a:p>
            <a:pPr>
              <a:defRPr/>
            </a:pPr>
            <a:endParaRPr lang="en-US"/>
          </a:p>
          <a:p>
            <a:pPr>
              <a:defRPr/>
            </a:pPr>
            <a:endParaRPr lang="en-US"/>
          </a:p>
        </p:txBody>
      </p:sp>
      <p:sp>
        <p:nvSpPr>
          <p:cNvPr id="143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CEA1EE9-6C04-4CA5-9634-140204B20428}" type="slidenum">
              <a:rPr lang="en-US" altLang="en-US" smtClean="0">
                <a:latin typeface="Arial" panose="020B0604020202020204" pitchFamily="34" charset="0"/>
              </a:rPr>
              <a:pPr>
                <a:spcBef>
                  <a:spcPct val="0"/>
                </a:spcBef>
              </a:pPr>
              <a:t>6</a:t>
            </a:fld>
            <a:endParaRPr lang="en-US" altLang="en-US">
              <a:latin typeface="Arial" panose="020B0604020202020204" pitchFamily="34" charset="0"/>
            </a:endParaRPr>
          </a:p>
        </p:txBody>
      </p:sp>
    </p:spTree>
    <p:extLst>
      <p:ext uri="{BB962C8B-B14F-4D97-AF65-F5344CB8AC3E}">
        <p14:creationId xmlns:p14="http://schemas.microsoft.com/office/powerpoint/2010/main" val="8115692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To access the system settings, you can do one of the following:</a:t>
            </a:r>
          </a:p>
          <a:p>
            <a:pPr lvl="1"/>
            <a:r>
              <a:rPr lang="en-US" altLang="en-US"/>
              <a:t>If you are in Category view, click System and Security, and click System or click View amount of RAM and processor speed.</a:t>
            </a:r>
          </a:p>
          <a:p>
            <a:pPr lvl="1"/>
            <a:r>
              <a:rPr lang="en-US" altLang="en-US"/>
              <a:t>If in classic view, double-click the System applet.</a:t>
            </a:r>
          </a:p>
          <a:p>
            <a:pPr lvl="1"/>
            <a:r>
              <a:rPr lang="en-US" altLang="en-US"/>
              <a:t>Right-click Computer and select Properties.</a:t>
            </a:r>
          </a:p>
          <a:p>
            <a:endParaRPr lang="en-US" altLang="en-US"/>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1531C03-AFC2-4371-BA43-CE9AF45BA4FF}" type="slidenum">
              <a:rPr lang="en-US" altLang="en-US" smtClean="0">
                <a:latin typeface="Arial" panose="020B0604020202020204" pitchFamily="34" charset="0"/>
              </a:rPr>
              <a:pPr>
                <a:spcBef>
                  <a:spcPct val="0"/>
                </a:spcBef>
              </a:pPr>
              <a:t>8</a:t>
            </a:fld>
            <a:endParaRPr lang="en-US" altLang="en-US">
              <a:latin typeface="Arial" panose="020B0604020202020204" pitchFamily="34" charset="0"/>
            </a:endParaRPr>
          </a:p>
        </p:txBody>
      </p:sp>
    </p:spTree>
    <p:extLst>
      <p:ext uri="{BB962C8B-B14F-4D97-AF65-F5344CB8AC3E}">
        <p14:creationId xmlns:p14="http://schemas.microsoft.com/office/powerpoint/2010/main" val="2303742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To help identify computers, you should name a computer with a meaningful name. This can be done within the System settings within the Control Panel. You can also add a computer to a domain or workgroup.</a:t>
            </a:r>
          </a:p>
          <a:p>
            <a:r>
              <a:rPr lang="en-US" altLang="en-US"/>
              <a:t>Every computer must have a unique computer name assigned to a network. If two computers have the same name, one or both of the computers will have trouble communicating on the network. </a:t>
            </a:r>
          </a:p>
          <a:p>
            <a:endParaRPr lang="en-US" altLang="en-US"/>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AB97857-94D6-4F52-9B7C-18A63DD76CFD}" type="slidenum">
              <a:rPr lang="en-US" altLang="en-US" smtClean="0">
                <a:latin typeface="Arial" panose="020B0604020202020204" pitchFamily="34" charset="0"/>
              </a:rPr>
              <a:pPr>
                <a:spcBef>
                  <a:spcPct val="0"/>
                </a:spcBef>
              </a:pPr>
              <a:t>10</a:t>
            </a:fld>
            <a:endParaRPr lang="en-US" altLang="en-US">
              <a:latin typeface="Arial" panose="020B0604020202020204" pitchFamily="34" charset="0"/>
            </a:endParaRPr>
          </a:p>
        </p:txBody>
      </p:sp>
    </p:spTree>
    <p:extLst>
      <p:ext uri="{BB962C8B-B14F-4D97-AF65-F5344CB8AC3E}">
        <p14:creationId xmlns:p14="http://schemas.microsoft.com/office/powerpoint/2010/main" val="179568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8CE325BE-DA35-42E3-9AF5-505E9BBA3EEA}" type="slidenum">
              <a:rPr lang="en-US" smtClean="0"/>
              <a:pPr>
                <a:defRPr/>
              </a:pPr>
              <a:t>12</a:t>
            </a:fld>
            <a:endParaRPr lang="en-US"/>
          </a:p>
        </p:txBody>
      </p:sp>
    </p:spTree>
    <p:extLst>
      <p:ext uri="{BB962C8B-B14F-4D97-AF65-F5344CB8AC3E}">
        <p14:creationId xmlns:p14="http://schemas.microsoft.com/office/powerpoint/2010/main" val="8519876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Because these drivers are software, there may be times when you need to go to the manufacturer’s Web site to retrieve newer drivers (although sometimes older drivers work better than newer drivers) or download them through Microsoft’s updates. </a:t>
            </a:r>
          </a:p>
          <a:p>
            <a:endParaRPr lang="en-US" altLang="en-US"/>
          </a:p>
        </p:txBody>
      </p:sp>
      <p:sp>
        <p:nvSpPr>
          <p:cNvPr id="327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BD22E28-3E1C-45F6-8631-1F134559A8DD}" type="slidenum">
              <a:rPr lang="en-US" altLang="en-US" smtClean="0">
                <a:latin typeface="Arial" panose="020B0604020202020204" pitchFamily="34" charset="0"/>
              </a:rPr>
              <a:pPr>
                <a:spcBef>
                  <a:spcPct val="0"/>
                </a:spcBef>
              </a:pPr>
              <a:t>15</a:t>
            </a:fld>
            <a:endParaRPr lang="en-US" altLang="en-US">
              <a:latin typeface="Arial" panose="020B0604020202020204" pitchFamily="34" charset="0"/>
            </a:endParaRPr>
          </a:p>
        </p:txBody>
      </p:sp>
    </p:spTree>
    <p:extLst>
      <p:ext uri="{BB962C8B-B14F-4D97-AF65-F5344CB8AC3E}">
        <p14:creationId xmlns:p14="http://schemas.microsoft.com/office/powerpoint/2010/main" val="2150049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If you are using a newer version of Windows that is not a 64-bit version, you can use the File Signature Verification program (Sigverif.exe) to check whether unsigned device drivers are in the system area of a computer. </a:t>
            </a:r>
          </a:p>
          <a:p>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FF8A415-D24F-4321-AC6C-04E1F440AAFE}" type="slidenum">
              <a:rPr lang="en-US" altLang="en-US" smtClean="0">
                <a:latin typeface="Arial" panose="020B0604020202020204" pitchFamily="34" charset="0"/>
              </a:rPr>
              <a:pPr>
                <a:spcBef>
                  <a:spcPct val="0"/>
                </a:spcBef>
              </a:pPr>
              <a:t>18</a:t>
            </a:fld>
            <a:endParaRPr lang="en-US" altLang="en-US">
              <a:latin typeface="Arial" panose="020B0604020202020204" pitchFamily="34" charset="0"/>
            </a:endParaRPr>
          </a:p>
        </p:txBody>
      </p:sp>
    </p:spTree>
    <p:extLst>
      <p:ext uri="{BB962C8B-B14F-4D97-AF65-F5344CB8AC3E}">
        <p14:creationId xmlns:p14="http://schemas.microsoft.com/office/powerpoint/2010/main" val="2016111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Starting with Windows Server 2008 and Windows Vista, Windows includes the Devices and Printers folder to quickly allow users to see all the devices connected to the computer and to configure and troubleshoot these devices. </a:t>
            </a:r>
          </a:p>
          <a:p>
            <a:r>
              <a:rPr lang="en-US" altLang="en-US"/>
              <a:t>It also allows you to view information about the make, model, and manufacturer and gives you detailed information about the sync capabilities of a mobile phone or other mobile devices.</a:t>
            </a:r>
          </a:p>
          <a:p>
            <a:endParaRPr lang="en-US" altLang="en-US"/>
          </a:p>
        </p:txBody>
      </p:sp>
      <p:sp>
        <p:nvSpPr>
          <p:cNvPr id="389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FB173CA-8C3F-40BB-BD67-1F3364D0089E}" type="slidenum">
              <a:rPr lang="en-US" altLang="en-US" smtClean="0">
                <a:latin typeface="Arial" panose="020B0604020202020204" pitchFamily="34" charset="0"/>
              </a:rPr>
              <a:pPr>
                <a:spcBef>
                  <a:spcPct val="0"/>
                </a:spcBef>
              </a:pPr>
              <a:t>20</a:t>
            </a:fld>
            <a:endParaRPr lang="en-US" altLang="en-US">
              <a:latin typeface="Arial" panose="020B0604020202020204" pitchFamily="34" charset="0"/>
            </a:endParaRPr>
          </a:p>
        </p:txBody>
      </p:sp>
    </p:spTree>
    <p:extLst>
      <p:ext uri="{BB962C8B-B14F-4D97-AF65-F5344CB8AC3E}">
        <p14:creationId xmlns:p14="http://schemas.microsoft.com/office/powerpoint/2010/main" val="14759357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fontScale="85000" lnSpcReduction="20000"/>
          </a:bodyPr>
          <a:lstStyle/>
          <a:p>
            <a:pPr>
              <a:defRPr/>
            </a:pPr>
            <a:r>
              <a:rPr lang="en-US" sz="2800" dirty="0"/>
              <a:t>Administrative Tools is a folder in the Control Panel that contains tools for system administrators and advanced users. </a:t>
            </a:r>
          </a:p>
          <a:p>
            <a:pPr>
              <a:defRPr/>
            </a:pPr>
            <a:r>
              <a:rPr lang="en-US" sz="2800" dirty="0"/>
              <a:t>To access the Administrative Tools, open the Control Panel, open Administrative Tools by clicking Start, Control Panel, System, and Security while in Category View or double-click the Administrative Tools applet while in Icon view. </a:t>
            </a:r>
          </a:p>
          <a:p>
            <a:pPr lvl="1">
              <a:defRPr/>
            </a:pPr>
            <a:r>
              <a:rPr lang="en-US" sz="2800" dirty="0"/>
              <a:t>There is also a quick link on Windows Servers that can be accessed by clicking the Start button.</a:t>
            </a:r>
          </a:p>
          <a:p>
            <a:pPr>
              <a:defRPr/>
            </a:pPr>
            <a:endParaRPr lang="en-US" dirty="0"/>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0F19CDC-8328-48C2-970F-65F303FE806C}" type="slidenum">
              <a:rPr lang="en-US" altLang="en-US" smtClean="0">
                <a:latin typeface="Arial" panose="020B0604020202020204" pitchFamily="34" charset="0"/>
              </a:rPr>
              <a:pPr>
                <a:spcBef>
                  <a:spcPct val="0"/>
                </a:spcBef>
              </a:pPr>
              <a:t>21</a:t>
            </a:fld>
            <a:endParaRPr lang="en-US" altLang="en-US">
              <a:latin typeface="Arial" panose="020B0604020202020204" pitchFamily="34" charset="0"/>
            </a:endParaRPr>
          </a:p>
        </p:txBody>
      </p:sp>
    </p:spTree>
    <p:extLst>
      <p:ext uri="{BB962C8B-B14F-4D97-AF65-F5344CB8AC3E}">
        <p14:creationId xmlns:p14="http://schemas.microsoft.com/office/powerpoint/2010/main" val="15948130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 server role is a set of software programs that, when installed and properly configured, enables a computer perform a specific function for multiple users or computers within a network.</a:t>
            </a:r>
          </a:p>
          <a:p>
            <a:r>
              <a:rPr lang="en-US" altLang="en-US"/>
              <a:t>Role services are software programs that provide the functionality of a role or service. </a:t>
            </a:r>
          </a:p>
          <a:p>
            <a:endParaRPr lang="en-US" altLang="en-US"/>
          </a:p>
        </p:txBody>
      </p:sp>
      <p:sp>
        <p:nvSpPr>
          <p:cNvPr id="542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0F3C1CC-32DB-45C8-A4AD-26CFAD657353}" type="slidenum">
              <a:rPr lang="en-US" altLang="en-US" smtClean="0">
                <a:latin typeface="Arial" panose="020B0604020202020204" pitchFamily="34" charset="0"/>
              </a:rPr>
              <a:pPr>
                <a:spcBef>
                  <a:spcPct val="0"/>
                </a:spcBef>
              </a:pPr>
              <a:t>22</a:t>
            </a:fld>
            <a:endParaRPr lang="en-US" altLang="en-US">
              <a:latin typeface="Arial" panose="020B0604020202020204" pitchFamily="34" charset="0"/>
            </a:endParaRPr>
          </a:p>
        </p:txBody>
      </p:sp>
    </p:spTree>
    <p:extLst>
      <p:ext uri="{BB962C8B-B14F-4D97-AF65-F5344CB8AC3E}">
        <p14:creationId xmlns:p14="http://schemas.microsoft.com/office/powerpoint/2010/main" val="30321461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Features are software programs that are not directly part of a role. </a:t>
            </a:r>
          </a:p>
          <a:p>
            <a:r>
              <a:rPr lang="en-US" altLang="en-US"/>
              <a:t>Instead, they can support or augment the server. </a:t>
            </a:r>
          </a:p>
          <a:p>
            <a:endParaRPr lang="en-US" altLang="en-US"/>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0A7FDA8-FDA9-4935-A1C9-7295C191B4DA}" type="slidenum">
              <a:rPr lang="en-US" altLang="en-US" smtClean="0">
                <a:latin typeface="Arial" panose="020B0604020202020204" pitchFamily="34" charset="0"/>
              </a:rPr>
              <a:pPr>
                <a:spcBef>
                  <a:spcPct val="0"/>
                </a:spcBef>
              </a:pPr>
              <a:t>23</a:t>
            </a:fld>
            <a:endParaRPr lang="en-US" altLang="en-US">
              <a:latin typeface="Arial" panose="020B0604020202020204" pitchFamily="34" charset="0"/>
            </a:endParaRPr>
          </a:p>
        </p:txBody>
      </p:sp>
    </p:spTree>
    <p:extLst>
      <p:ext uri="{BB962C8B-B14F-4D97-AF65-F5344CB8AC3E}">
        <p14:creationId xmlns:p14="http://schemas.microsoft.com/office/powerpoint/2010/main" val="8774605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0660" name="Header Placeholder 3"/>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solidFill>
                <a:srgbClr val="000000"/>
              </a:solidFill>
            </a:endParaRPr>
          </a:p>
        </p:txBody>
      </p:sp>
      <p:sp>
        <p:nvSpPr>
          <p:cNvPr id="70661" name="Date Placeholder 4"/>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6A6E1EA-AB32-4AD9-AB3A-5EF4A5118FC1}" type="datetime8">
              <a:rPr lang="en-US" altLang="en-US" smtClean="0">
                <a:solidFill>
                  <a:srgbClr val="000000"/>
                </a:solidFill>
              </a:rPr>
              <a:pPr/>
              <a:t>12/5/2023 7:23 PM</a:t>
            </a:fld>
            <a:endParaRPr lang="en-US" altLang="en-US">
              <a:solidFill>
                <a:srgbClr val="000000"/>
              </a:solidFill>
            </a:endParaRPr>
          </a:p>
        </p:txBody>
      </p:sp>
      <p:sp>
        <p:nvSpPr>
          <p:cNvPr id="70662" name="Slide Number Placeholder 6"/>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1F0F738-CD81-4479-BD5D-878A24F12F7E}" type="slidenum">
              <a:rPr lang="en-US" altLang="en-US" smtClean="0">
                <a:solidFill>
                  <a:srgbClr val="000000"/>
                </a:solidFill>
              </a:rPr>
              <a:pPr/>
              <a:t>27</a:t>
            </a:fld>
            <a:endParaRPr lang="en-US" altLang="en-US">
              <a:solidFill>
                <a:srgbClr val="000000"/>
              </a:solidFill>
            </a:endParaRPr>
          </a:p>
        </p:txBody>
      </p:sp>
      <p:sp>
        <p:nvSpPr>
          <p:cNvPr id="70663" name="Footer Placeholder 3"/>
          <p:cNvSpPr>
            <a:spLocks noGrp="1"/>
          </p:cNvSpPr>
          <p:nvPr>
            <p:ph type="ftr" sz="quarter" idx="4"/>
          </p:nvPr>
        </p:nvSpPr>
        <p:spPr bwMode="auto">
          <a:xfrm>
            <a:off x="0" y="8685213"/>
            <a:ext cx="6248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500">
                <a:solidFill>
                  <a:srgbClr val="000000"/>
                </a:solidFill>
                <a:latin typeface="Segoe UI" panose="020B0502040204020203" pitchFamily="34" charset="0"/>
              </a:rPr>
              <a:t>© 2010 Microsoft Corporation. All rights reserved. Microsoft, Windows, Windows Vista and other product names are or may be registered trademarks and/or trademarks in the U.S. and/or other countries.</a:t>
            </a:r>
          </a:p>
          <a:p>
            <a:r>
              <a:rPr lang="en-US" altLang="en-US" sz="500">
                <a:solidFill>
                  <a:srgbClr val="000000"/>
                </a:solidFill>
                <a:latin typeface="Segoe UI" panose="020B0502040204020203"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altLang="en-US" sz="500">
                <a:solidFill>
                  <a:srgbClr val="000000"/>
                </a:solidFill>
                <a:latin typeface="Segoe UI" panose="020B0502040204020203" pitchFamily="34" charset="0"/>
              </a:rPr>
            </a:br>
            <a:r>
              <a:rPr lang="en-US" altLang="en-US" sz="500">
                <a:solidFill>
                  <a:srgbClr val="000000"/>
                </a:solidFill>
                <a:latin typeface="Segoe UI" panose="020B0502040204020203" pitchFamily="34" charset="0"/>
              </a:rPr>
              <a:t>MICROSOFT MAKES NO WARRANTIES, EXPRESS, IMPLIED OR STATUTORY, AS TO THE INFORMATION IN THIS PRESENTATION.</a:t>
            </a:r>
          </a:p>
        </p:txBody>
      </p:sp>
    </p:spTree>
    <p:extLst>
      <p:ext uri="{BB962C8B-B14F-4D97-AF65-F5344CB8AC3E}">
        <p14:creationId xmlns:p14="http://schemas.microsoft.com/office/powerpoint/2010/main" val="2290248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2011320"/>
          </a:xfrm>
        </p:spPr>
        <p:txBody>
          <a:bodyPr/>
          <a:lstStyle>
            <a:lvl1pPr marL="334963" marR="0" indent="-334963" algn="l" defTabSz="912813" rtl="0" eaLnBrk="1" fontAlgn="base" latinLnBrk="0" hangingPunct="1">
              <a:lnSpc>
                <a:spcPct val="90000"/>
              </a:lnSpc>
              <a:spcBef>
                <a:spcPct val="20000"/>
              </a:spcBef>
              <a:spcAft>
                <a:spcPct val="0"/>
              </a:spcAft>
              <a:buClrTx/>
              <a:buSzPct val="90000"/>
              <a:buFont typeface="Arial" panose="020B0604020202020204" pitchFamily="34" charset="0"/>
              <a:buChar char="•"/>
              <a:tabLst/>
              <a:defRPr/>
            </a:lvl1pPr>
            <a:lvl2pPr marL="571500" marR="0" indent="-236538" algn="l" defTabSz="912813" rtl="0" eaLnBrk="1" fontAlgn="base" latinLnBrk="0" hangingPunct="1">
              <a:lnSpc>
                <a:spcPct val="90000"/>
              </a:lnSpc>
              <a:spcBef>
                <a:spcPct val="20000"/>
              </a:spcBef>
              <a:spcAft>
                <a:spcPct val="0"/>
              </a:spcAft>
              <a:buClrTx/>
              <a:buSzPct val="90000"/>
              <a:buFont typeface="Arial" panose="020B0604020202020204" pitchFamily="34" charset="0"/>
              <a:buChar char="•"/>
              <a:tabLst/>
              <a:defRPr/>
            </a:lvl2pPr>
            <a:lvl3pPr marL="784225" marR="0" indent="-223838" algn="l" defTabSz="912813" rtl="0" eaLnBrk="1" fontAlgn="base" latinLnBrk="0" hangingPunct="1">
              <a:lnSpc>
                <a:spcPct val="90000"/>
              </a:lnSpc>
              <a:spcBef>
                <a:spcPct val="20000"/>
              </a:spcBef>
              <a:spcAft>
                <a:spcPct val="0"/>
              </a:spcAft>
              <a:buClrTx/>
              <a:buSzPct val="90000"/>
              <a:buFont typeface="Arial" panose="020B0604020202020204" pitchFamily="34" charset="0"/>
              <a:buChar char="•"/>
              <a:tabLst/>
              <a:defRPr/>
            </a:lvl3pPr>
            <a:lvl4pPr marL="1008063" marR="0" indent="-223838" algn="l" defTabSz="912813" rtl="0" eaLnBrk="1" fontAlgn="base" latinLnBrk="0" hangingPunct="1">
              <a:lnSpc>
                <a:spcPct val="90000"/>
              </a:lnSpc>
              <a:spcBef>
                <a:spcPct val="20000"/>
              </a:spcBef>
              <a:spcAft>
                <a:spcPct val="0"/>
              </a:spcAft>
              <a:buClrTx/>
              <a:buSzPct val="90000"/>
              <a:buFont typeface="Arial" panose="020B0604020202020204" pitchFamily="34" charset="0"/>
              <a:buChar char="•"/>
              <a:tabLst/>
              <a:defRPr/>
            </a:lvl4pPr>
            <a:lvl5pPr marL="1231900" marR="0" indent="-223838" algn="l" defTabSz="912813" rtl="0" eaLnBrk="1" fontAlgn="base" latinLnBrk="0" hangingPunct="1">
              <a:lnSpc>
                <a:spcPct val="90000"/>
              </a:lnSpc>
              <a:spcBef>
                <a:spcPct val="20000"/>
              </a:spcBef>
              <a:spcAft>
                <a:spcPct val="0"/>
              </a:spcAft>
              <a:buClrTx/>
              <a:buSzPct val="90000"/>
              <a:buFont typeface="Arial" panose="020B060402020202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5"/>
          <p:cNvSpPr>
            <a:spLocks noGrp="1"/>
          </p:cNvSpPr>
          <p:nvPr>
            <p:ph type="title"/>
          </p:nvPr>
        </p:nvSpPr>
        <p:spPr/>
        <p:txBody>
          <a:bodyPr/>
          <a:lstStyle>
            <a:lvl1pPr>
              <a:defRPr lang="en-US" sz="5400" b="0" kern="1200" cap="none" spc="-75" baseline="0" dirty="0">
                <a:ln w="3175">
                  <a:noFill/>
                </a:ln>
                <a:solidFill>
                  <a:schemeClr val="bg1">
                    <a:lumMod val="95000"/>
                  </a:schemeClr>
                </a:solidFill>
                <a:effectLst/>
                <a:latin typeface="+mj-lt"/>
                <a:ea typeface="+mn-ea"/>
                <a:cs typeface="Segoe UI" pitchFamily="34" charset="0"/>
              </a:defRPr>
            </a:lvl1pPr>
          </a:lstStyle>
          <a:p>
            <a:r>
              <a:rPr lang="en-US" dirty="0"/>
              <a:t>Click to edit Master title style</a:t>
            </a:r>
          </a:p>
        </p:txBody>
      </p:sp>
    </p:spTree>
    <p:extLst>
      <p:ext uri="{BB962C8B-B14F-4D97-AF65-F5344CB8AC3E}">
        <p14:creationId xmlns:p14="http://schemas.microsoft.com/office/powerpoint/2010/main" val="26738190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485902"/>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Date Placeholder 3"/>
          <p:cNvSpPr>
            <a:spLocks noGrp="1" noChangeArrowheads="1"/>
          </p:cNvSpPr>
          <p:nvPr>
            <p:ph type="dt" sz="half" idx="10"/>
          </p:nvPr>
        </p:nvSpPr>
        <p:spPr>
          <a:xfrm>
            <a:off x="609600" y="6245225"/>
            <a:ext cx="2844800" cy="476250"/>
          </a:xfrm>
          <a:prstGeom prst="rect">
            <a:avLst/>
          </a:prstGeom>
        </p:spPr>
        <p:txBody>
          <a:bodyPr/>
          <a:lstStyle>
            <a:lvl1pPr algn="r" eaLnBrk="1" hangingPunct="1">
              <a:defRPr>
                <a:solidFill>
                  <a:srgbClr val="000000"/>
                </a:solidFill>
              </a:defRPr>
            </a:lvl1pPr>
          </a:lstStyle>
          <a:p>
            <a:pPr>
              <a:defRPr/>
            </a:pPr>
            <a:fld id="{B9C10A8D-C6AD-470C-8E01-3A125EF37548}" type="datetimeFigureOut">
              <a:rPr lang="en-US"/>
              <a:pPr>
                <a:defRPr/>
              </a:pPr>
              <a:t>12/5/2023</a:t>
            </a:fld>
            <a:endParaRPr lang="en-US"/>
          </a:p>
        </p:txBody>
      </p:sp>
      <p:sp>
        <p:nvSpPr>
          <p:cNvPr id="5" name="Footer Placeholder 4"/>
          <p:cNvSpPr>
            <a:spLocks noGrp="1" noChangeArrowheads="1"/>
          </p:cNvSpPr>
          <p:nvPr>
            <p:ph type="ftr" sz="quarter" idx="11"/>
          </p:nvPr>
        </p:nvSpPr>
        <p:spPr>
          <a:xfrm>
            <a:off x="4165600" y="6245225"/>
            <a:ext cx="3860800" cy="476250"/>
          </a:xfrm>
          <a:prstGeom prst="rect">
            <a:avLst/>
          </a:prstGeom>
        </p:spPr>
        <p:txBody>
          <a:bodyPr/>
          <a:lstStyle>
            <a:lvl1pPr algn="r" eaLnBrk="1" hangingPunct="1">
              <a:defRPr>
                <a:solidFill>
                  <a:srgbClr val="000000"/>
                </a:solidFill>
              </a:defRPr>
            </a:lvl1pPr>
          </a:lstStyle>
          <a:p>
            <a:pPr>
              <a:defRPr/>
            </a:pPr>
            <a:endParaRPr lang="en-US"/>
          </a:p>
        </p:txBody>
      </p:sp>
      <p:sp>
        <p:nvSpPr>
          <p:cNvPr id="6" name="Slide Number Placeholder 5"/>
          <p:cNvSpPr>
            <a:spLocks noGrp="1" noChangeArrowheads="1"/>
          </p:cNvSpPr>
          <p:nvPr>
            <p:ph type="sldNum" sz="quarter" idx="12"/>
          </p:nvPr>
        </p:nvSpPr>
        <p:spPr>
          <a:xfrm>
            <a:off x="8737600" y="6245225"/>
            <a:ext cx="2844800" cy="476250"/>
          </a:xfrm>
          <a:prstGeom prst="rect">
            <a:avLst/>
          </a:prstGeom>
        </p:spPr>
        <p:txBody>
          <a:bodyPr/>
          <a:lstStyle>
            <a:lvl1pPr algn="r" eaLnBrk="1" hangingPunct="1">
              <a:defRPr>
                <a:solidFill>
                  <a:srgbClr val="000000"/>
                </a:solidFill>
              </a:defRPr>
            </a:lvl1pPr>
          </a:lstStyle>
          <a:p>
            <a:pPr>
              <a:defRPr/>
            </a:pPr>
            <a:fld id="{FBFD1D55-25E7-4136-B60F-8E20BDC05E2F}" type="slidenum">
              <a:rPr lang="en-US"/>
              <a:pPr>
                <a:defRPr/>
              </a:pPr>
              <a:t>‹#›</a:t>
            </a:fld>
            <a:endParaRPr lang="en-US"/>
          </a:p>
        </p:txBody>
      </p:sp>
    </p:spTree>
    <p:extLst>
      <p:ext uri="{BB962C8B-B14F-4D97-AF65-F5344CB8AC3E}">
        <p14:creationId xmlns:p14="http://schemas.microsoft.com/office/powerpoint/2010/main" val="24820394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2C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875" y="288925"/>
            <a:ext cx="11655425" cy="900113"/>
          </a:xfrm>
          <a:prstGeom prst="rect">
            <a:avLst/>
          </a:prstGeom>
        </p:spPr>
        <p:txBody>
          <a:bodyPr vert="horz" wrap="square" lIns="146304" tIns="91440" rIns="146304" bIns="91440" rtlCol="0" anchor="t">
            <a:noAutofit/>
          </a:bodyPr>
          <a:lstStyle/>
          <a:p>
            <a:r>
              <a:rPr lang="en-US" dirty="0"/>
              <a:t>Click to edit Master title style</a:t>
            </a:r>
          </a:p>
        </p:txBody>
      </p:sp>
      <p:sp>
        <p:nvSpPr>
          <p:cNvPr id="1027" name="Text Placeholder 3"/>
          <p:cNvSpPr>
            <a:spLocks noGrp="1"/>
          </p:cNvSpPr>
          <p:nvPr>
            <p:ph type="body" idx="1"/>
          </p:nvPr>
        </p:nvSpPr>
        <p:spPr bwMode="auto">
          <a:xfrm>
            <a:off x="269875" y="1189038"/>
            <a:ext cx="11652250" cy="2025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46304" tIns="91440" rIns="146304" bIns="91440" numCol="1" anchor="t" anchorCtr="0" compatLnSpc="1">
            <a:prstTxWarp prst="textNoShape">
              <a:avLst/>
            </a:prstTxWarp>
            <a:sp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cSld>
  <p:clrMap bg1="lt1" tx1="dk1" bg2="lt2" tx2="dk2" accent1="accent1" accent2="accent2" accent3="accent3" accent4="accent4" accent5="accent5" accent6="accent6" hlink="hlink" folHlink="folHlink"/>
  <p:sldLayoutIdLst>
    <p:sldLayoutId id="2147484174" r:id="rId1"/>
    <p:sldLayoutId id="2147484177" r:id="rId2"/>
  </p:sldLayoutIdLst>
  <p:transition>
    <p:fade/>
  </p:transition>
  <p:txStyles>
    <p:titleStyle>
      <a:lvl1pPr algn="l" defTabSz="912813" rtl="0" eaLnBrk="0" fontAlgn="base" hangingPunct="0">
        <a:lnSpc>
          <a:spcPct val="90000"/>
        </a:lnSpc>
        <a:spcBef>
          <a:spcPct val="0"/>
        </a:spcBef>
        <a:spcAft>
          <a:spcPct val="0"/>
        </a:spcAft>
        <a:defRPr lang="en-US" sz="5400" kern="1200" spc="-75" dirty="0">
          <a:ln w="3175">
            <a:noFill/>
          </a:ln>
          <a:solidFill>
            <a:srgbClr val="F2F2F2"/>
          </a:solidFill>
          <a:latin typeface="+mj-lt"/>
          <a:ea typeface="+mn-ea"/>
          <a:cs typeface="Segoe UI" pitchFamily="34" charset="0"/>
        </a:defRPr>
      </a:lvl1pPr>
      <a:lvl2pPr algn="l" defTabSz="912813" rtl="0" eaLnBrk="0" fontAlgn="base" hangingPunct="0">
        <a:lnSpc>
          <a:spcPct val="90000"/>
        </a:lnSpc>
        <a:spcBef>
          <a:spcPct val="0"/>
        </a:spcBef>
        <a:spcAft>
          <a:spcPct val="0"/>
        </a:spcAft>
        <a:defRPr sz="3900">
          <a:solidFill>
            <a:srgbClr val="F2F2F2"/>
          </a:solidFill>
          <a:latin typeface="Segoe UI Light" panose="020B0502040204020203" pitchFamily="34" charset="0"/>
          <a:cs typeface="Segoe UI" panose="020B0502040204020203" pitchFamily="34" charset="0"/>
        </a:defRPr>
      </a:lvl2pPr>
      <a:lvl3pPr algn="l" defTabSz="912813" rtl="0" eaLnBrk="0" fontAlgn="base" hangingPunct="0">
        <a:lnSpc>
          <a:spcPct val="90000"/>
        </a:lnSpc>
        <a:spcBef>
          <a:spcPct val="0"/>
        </a:spcBef>
        <a:spcAft>
          <a:spcPct val="0"/>
        </a:spcAft>
        <a:defRPr sz="3900">
          <a:solidFill>
            <a:srgbClr val="F2F2F2"/>
          </a:solidFill>
          <a:latin typeface="Segoe UI Light" panose="020B0502040204020203" pitchFamily="34" charset="0"/>
          <a:cs typeface="Segoe UI" panose="020B0502040204020203" pitchFamily="34" charset="0"/>
        </a:defRPr>
      </a:lvl3pPr>
      <a:lvl4pPr algn="l" defTabSz="912813" rtl="0" eaLnBrk="0" fontAlgn="base" hangingPunct="0">
        <a:lnSpc>
          <a:spcPct val="90000"/>
        </a:lnSpc>
        <a:spcBef>
          <a:spcPct val="0"/>
        </a:spcBef>
        <a:spcAft>
          <a:spcPct val="0"/>
        </a:spcAft>
        <a:defRPr sz="3900">
          <a:solidFill>
            <a:srgbClr val="F2F2F2"/>
          </a:solidFill>
          <a:latin typeface="Segoe UI Light" panose="020B0502040204020203" pitchFamily="34" charset="0"/>
          <a:cs typeface="Segoe UI" panose="020B0502040204020203" pitchFamily="34" charset="0"/>
        </a:defRPr>
      </a:lvl4pPr>
      <a:lvl5pPr algn="l" defTabSz="912813" rtl="0" eaLnBrk="0" fontAlgn="base" hangingPunct="0">
        <a:lnSpc>
          <a:spcPct val="90000"/>
        </a:lnSpc>
        <a:spcBef>
          <a:spcPct val="0"/>
        </a:spcBef>
        <a:spcAft>
          <a:spcPct val="0"/>
        </a:spcAft>
        <a:defRPr sz="3900">
          <a:solidFill>
            <a:srgbClr val="F2F2F2"/>
          </a:solidFill>
          <a:latin typeface="Segoe UI Light" panose="020B0502040204020203" pitchFamily="34" charset="0"/>
          <a:cs typeface="Segoe UI" panose="020B0502040204020203" pitchFamily="34" charset="0"/>
        </a:defRPr>
      </a:lvl5pPr>
      <a:lvl6pPr marL="457200" algn="l" defTabSz="912813" rtl="0" fontAlgn="base">
        <a:lnSpc>
          <a:spcPct val="90000"/>
        </a:lnSpc>
        <a:spcBef>
          <a:spcPct val="0"/>
        </a:spcBef>
        <a:spcAft>
          <a:spcPct val="0"/>
        </a:spcAft>
        <a:defRPr sz="5200">
          <a:solidFill>
            <a:schemeClr val="tx1"/>
          </a:solidFill>
          <a:latin typeface="Segoe UI Light" panose="020B0502040204020203" pitchFamily="34" charset="0"/>
          <a:cs typeface="Segoe UI" panose="020B0502040204020203" pitchFamily="34" charset="0"/>
        </a:defRPr>
      </a:lvl6pPr>
      <a:lvl7pPr marL="914400" algn="l" defTabSz="912813" rtl="0" fontAlgn="base">
        <a:lnSpc>
          <a:spcPct val="90000"/>
        </a:lnSpc>
        <a:spcBef>
          <a:spcPct val="0"/>
        </a:spcBef>
        <a:spcAft>
          <a:spcPct val="0"/>
        </a:spcAft>
        <a:defRPr sz="5200">
          <a:solidFill>
            <a:schemeClr val="tx1"/>
          </a:solidFill>
          <a:latin typeface="Segoe UI Light" panose="020B0502040204020203" pitchFamily="34" charset="0"/>
          <a:cs typeface="Segoe UI" panose="020B0502040204020203" pitchFamily="34" charset="0"/>
        </a:defRPr>
      </a:lvl7pPr>
      <a:lvl8pPr marL="1371600" algn="l" defTabSz="912813" rtl="0" fontAlgn="base">
        <a:lnSpc>
          <a:spcPct val="90000"/>
        </a:lnSpc>
        <a:spcBef>
          <a:spcPct val="0"/>
        </a:spcBef>
        <a:spcAft>
          <a:spcPct val="0"/>
        </a:spcAft>
        <a:defRPr sz="5200">
          <a:solidFill>
            <a:schemeClr val="tx1"/>
          </a:solidFill>
          <a:latin typeface="Segoe UI Light" panose="020B0502040204020203" pitchFamily="34" charset="0"/>
          <a:cs typeface="Segoe UI" panose="020B0502040204020203" pitchFamily="34" charset="0"/>
        </a:defRPr>
      </a:lvl8pPr>
      <a:lvl9pPr marL="1828800" algn="l" defTabSz="912813" rtl="0" fontAlgn="base">
        <a:lnSpc>
          <a:spcPct val="90000"/>
        </a:lnSpc>
        <a:spcBef>
          <a:spcPct val="0"/>
        </a:spcBef>
        <a:spcAft>
          <a:spcPct val="0"/>
        </a:spcAft>
        <a:defRPr sz="5200">
          <a:solidFill>
            <a:schemeClr val="tx1"/>
          </a:solidFill>
          <a:latin typeface="Segoe UI Light" panose="020B0502040204020203" pitchFamily="34" charset="0"/>
          <a:cs typeface="Segoe UI" panose="020B0502040204020203" pitchFamily="34" charset="0"/>
        </a:defRPr>
      </a:lvl9pPr>
    </p:titleStyle>
    <p:bodyStyle>
      <a:lvl1pPr marL="334963" indent="-334963" algn="l" defTabSz="912813" rtl="0" eaLnBrk="0" fontAlgn="base" hangingPunct="0">
        <a:lnSpc>
          <a:spcPct val="90000"/>
        </a:lnSpc>
        <a:spcBef>
          <a:spcPct val="20000"/>
        </a:spcBef>
        <a:spcAft>
          <a:spcPct val="0"/>
        </a:spcAft>
        <a:buSzPct val="90000"/>
        <a:buFont typeface="Arial" panose="020B0604020202020204" pitchFamily="34" charset="0"/>
        <a:buChar char="•"/>
        <a:defRPr lang="en-US" sz="4000" kern="1200" dirty="0">
          <a:solidFill>
            <a:schemeClr val="accent3">
              <a:lumMod val="40000"/>
              <a:lumOff val="60000"/>
            </a:schemeClr>
          </a:solidFill>
          <a:latin typeface="+mj-lt"/>
          <a:ea typeface="+mn-ea"/>
          <a:cs typeface="+mn-cs"/>
        </a:defRPr>
      </a:lvl1pPr>
      <a:lvl2pPr marL="571500" indent="-236538" algn="l" defTabSz="912813" rtl="0" eaLnBrk="0" fontAlgn="base" hangingPunct="0">
        <a:lnSpc>
          <a:spcPct val="90000"/>
        </a:lnSpc>
        <a:spcBef>
          <a:spcPct val="20000"/>
        </a:spcBef>
        <a:spcAft>
          <a:spcPct val="0"/>
        </a:spcAft>
        <a:buSzPct val="90000"/>
        <a:buFont typeface="Arial" panose="020B0604020202020204" pitchFamily="34" charset="0"/>
        <a:buChar char="•"/>
        <a:defRPr lang="en-US" sz="2000" kern="1200" dirty="0">
          <a:solidFill>
            <a:srgbClr val="F2F2F2"/>
          </a:solidFill>
          <a:latin typeface="+mj-lt"/>
          <a:ea typeface="+mn-ea"/>
          <a:cs typeface="+mn-cs"/>
        </a:defRPr>
      </a:lvl2pPr>
      <a:lvl3pPr marL="784225" indent="-223838" algn="l" defTabSz="912813" rtl="0" eaLnBrk="0" fontAlgn="base" hangingPunct="0">
        <a:lnSpc>
          <a:spcPct val="90000"/>
        </a:lnSpc>
        <a:spcBef>
          <a:spcPct val="20000"/>
        </a:spcBef>
        <a:spcAft>
          <a:spcPct val="0"/>
        </a:spcAft>
        <a:buSzPct val="90000"/>
        <a:buFont typeface="Arial" panose="020B0604020202020204" pitchFamily="34" charset="0"/>
        <a:buChar char="•"/>
        <a:defRPr lang="en-US" sz="2000" kern="1200" dirty="0">
          <a:solidFill>
            <a:srgbClr val="F2F2F2"/>
          </a:solidFill>
          <a:latin typeface="+mj-lt"/>
          <a:ea typeface="+mn-ea"/>
          <a:cs typeface="+mn-cs"/>
        </a:defRPr>
      </a:lvl3pPr>
      <a:lvl4pPr marL="1008063" indent="-223838" algn="l" defTabSz="912813" rtl="0" eaLnBrk="0" fontAlgn="base" hangingPunct="0">
        <a:lnSpc>
          <a:spcPct val="90000"/>
        </a:lnSpc>
        <a:spcBef>
          <a:spcPct val="20000"/>
        </a:spcBef>
        <a:spcAft>
          <a:spcPct val="0"/>
        </a:spcAft>
        <a:buSzPct val="90000"/>
        <a:buFont typeface="Arial" panose="020B0604020202020204" pitchFamily="34" charset="0"/>
        <a:buChar char="•"/>
        <a:defRPr lang="en-US" sz="1800" kern="1200" dirty="0">
          <a:solidFill>
            <a:srgbClr val="F2F2F2"/>
          </a:solidFill>
          <a:latin typeface="+mj-lt"/>
          <a:ea typeface="+mn-ea"/>
          <a:cs typeface="+mn-cs"/>
        </a:defRPr>
      </a:lvl4pPr>
      <a:lvl5pPr marL="1231900" indent="-223838" algn="l" defTabSz="912813" rtl="0" eaLnBrk="0" fontAlgn="base" hangingPunct="0">
        <a:lnSpc>
          <a:spcPct val="90000"/>
        </a:lnSpc>
        <a:spcBef>
          <a:spcPct val="20000"/>
        </a:spcBef>
        <a:spcAft>
          <a:spcPct val="0"/>
        </a:spcAft>
        <a:buSzPct val="90000"/>
        <a:buFont typeface="Arial" panose="020B0604020202020204" pitchFamily="34" charset="0"/>
        <a:buChar char="•"/>
        <a:defRPr lang="en-US" sz="1800" kern="1200" dirty="0">
          <a:solidFill>
            <a:srgbClr val="F2F2F2"/>
          </a:solidFill>
          <a:latin typeface="+mj-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omments" Target="../comments/commen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1.xml"/><Relationship Id="rId4" Type="http://schemas.openxmlformats.org/officeDocument/2006/relationships/image" Target="../media/image8.emf"/></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130425"/>
            <a:ext cx="12192000" cy="1470025"/>
          </a:xfrm>
          <a:solidFill>
            <a:schemeClr val="accent2">
              <a:lumMod val="75000"/>
            </a:schemeClr>
          </a:solidFill>
        </p:spPr>
        <p:txBody>
          <a:bodyPr/>
          <a:lstStyle/>
          <a:p>
            <a:pPr algn="r" defTabSz="914367" eaLnBrk="1" fontAlgn="auto" hangingPunct="1">
              <a:spcAft>
                <a:spcPts val="0"/>
              </a:spcAft>
              <a:defRPr/>
            </a:pPr>
            <a:r>
              <a:rPr sz="3200" dirty="0">
                <a:solidFill>
                  <a:schemeClr val="bg1">
                    <a:lumMod val="95000"/>
                  </a:schemeClr>
                </a:solidFill>
              </a:rPr>
              <a:t>Managing Windows Server</a:t>
            </a:r>
            <a:endParaRPr sz="3150" dirty="0">
              <a:solidFill>
                <a:schemeClr val="bg1">
                  <a:lumMod val="95000"/>
                </a:schemeClr>
              </a:solidFill>
            </a:endParaRPr>
          </a:p>
        </p:txBody>
      </p:sp>
      <p:sp>
        <p:nvSpPr>
          <p:cNvPr id="5123" name="Subtitle 2"/>
          <p:cNvSpPr>
            <a:spLocks noGrp="1"/>
          </p:cNvSpPr>
          <p:nvPr>
            <p:ph type="subTitle" idx="1"/>
          </p:nvPr>
        </p:nvSpPr>
        <p:spPr>
          <a:xfrm>
            <a:off x="3657600" y="3200400"/>
            <a:ext cx="8534400" cy="476250"/>
          </a:xfrm>
        </p:spPr>
        <p:txBody>
          <a:bodyPr/>
          <a:lstStyle/>
          <a:p>
            <a:pPr algn="r" eaLnBrk="1" hangingPunct="1"/>
            <a:r>
              <a:rPr lang="en-US" altLang="en-US" sz="2100" dirty="0">
                <a:solidFill>
                  <a:schemeClr val="bg1">
                    <a:lumMod val="95000"/>
                  </a:schemeClr>
                </a:solidFill>
              </a:rPr>
              <a:t>Module 2</a:t>
            </a:r>
          </a:p>
        </p:txBody>
      </p:sp>
      <p:pic>
        <p:nvPicPr>
          <p:cNvPr id="5124"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 y="5562600"/>
            <a:ext cx="28575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r>
              <a:rPr lang="en-US" dirty="0"/>
              <a:t>Objectives</a:t>
            </a:r>
          </a:p>
        </p:txBody>
      </p:sp>
      <p:sp>
        <p:nvSpPr>
          <p:cNvPr id="7171" name="Rectangle 22"/>
          <p:cNvSpPr>
            <a:spLocks noChangeArrowheads="1"/>
          </p:cNvSpPr>
          <p:nvPr/>
        </p:nvSpPr>
        <p:spPr bwMode="auto">
          <a:xfrm>
            <a:off x="1981200" y="1447800"/>
            <a:ext cx="8229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20000"/>
              </a:spcBef>
              <a:buClr>
                <a:srgbClr val="0000CC"/>
              </a:buClr>
              <a:buFontTx/>
              <a:buChar char="•"/>
            </a:pPr>
            <a:endParaRPr lang="en-US" altLang="en-US" sz="3200">
              <a:latin typeface="Franklin Gothic Book" panose="020B0503020102020204" pitchFamily="34" charset="0"/>
            </a:endParaRPr>
          </a:p>
        </p:txBody>
      </p:sp>
      <p:graphicFrame>
        <p:nvGraphicFramePr>
          <p:cNvPr id="2" name="Table 1"/>
          <p:cNvGraphicFramePr>
            <a:graphicFrameLocks noGrp="1"/>
          </p:cNvGraphicFramePr>
          <p:nvPr/>
        </p:nvGraphicFramePr>
        <p:xfrm>
          <a:off x="1981200" y="1458913"/>
          <a:ext cx="8153400" cy="3109912"/>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640224">
                <a:tc>
                  <a:txBody>
                    <a:bodyPr/>
                    <a:lstStyle/>
                    <a:p>
                      <a:r>
                        <a:rPr lang="en-US" sz="1800" dirty="0"/>
                        <a:t>Skills/Concepts</a:t>
                      </a:r>
                    </a:p>
                  </a:txBody>
                  <a:tcPr marT="45729" marB="45729"/>
                </a:tc>
                <a:tc>
                  <a:txBody>
                    <a:bodyPr/>
                    <a:lstStyle/>
                    <a:p>
                      <a:r>
                        <a:rPr lang="en-US" sz="1800" dirty="0"/>
                        <a:t>Objective Domain Description</a:t>
                      </a:r>
                    </a:p>
                  </a:txBody>
                  <a:tcPr marT="45729" marB="45729"/>
                </a:tc>
                <a:tc>
                  <a:txBody>
                    <a:bodyPr/>
                    <a:lstStyle/>
                    <a:p>
                      <a:r>
                        <a:rPr lang="en-US" sz="1800" dirty="0"/>
                        <a:t>Objective Domain Number</a:t>
                      </a:r>
                    </a:p>
                  </a:txBody>
                  <a:tcPr marT="45729" marB="45729"/>
                </a:tc>
                <a:extLst>
                  <a:ext uri="{0D108BD9-81ED-4DB2-BD59-A6C34878D82A}">
                    <a16:rowId xmlns:a16="http://schemas.microsoft.com/office/drawing/2014/main" val="10000"/>
                  </a:ext>
                </a:extLst>
              </a:tr>
              <a:tr h="914857">
                <a:tc>
                  <a:txBody>
                    <a:bodyPr/>
                    <a:lstStyle/>
                    <a:p>
                      <a:r>
                        <a:rPr lang="en-US" sz="1800" dirty="0"/>
                        <a:t>Managing</a:t>
                      </a:r>
                      <a:r>
                        <a:rPr lang="en-US" sz="1800" baseline="0" dirty="0"/>
                        <a:t> Devices and Device Drivers</a:t>
                      </a:r>
                      <a:endParaRPr lang="en-US" sz="1800" dirty="0"/>
                    </a:p>
                  </a:txBody>
                  <a:tcPr marT="45729" marB="45729"/>
                </a:tc>
                <a:tc>
                  <a:txBody>
                    <a:bodyPr/>
                    <a:lstStyle/>
                    <a:p>
                      <a:r>
                        <a:rPr lang="en-US" sz="1800" dirty="0"/>
                        <a:t>Understand device drivers.</a:t>
                      </a:r>
                    </a:p>
                  </a:txBody>
                  <a:tcPr marT="45729" marB="45729"/>
                </a:tc>
                <a:tc>
                  <a:txBody>
                    <a:bodyPr/>
                    <a:lstStyle/>
                    <a:p>
                      <a:r>
                        <a:rPr lang="en-US" sz="1800" dirty="0"/>
                        <a:t>1.1</a:t>
                      </a:r>
                    </a:p>
                  </a:txBody>
                  <a:tcPr marT="45729" marB="45729"/>
                </a:tc>
                <a:extLst>
                  <a:ext uri="{0D108BD9-81ED-4DB2-BD59-A6C34878D82A}">
                    <a16:rowId xmlns:a16="http://schemas.microsoft.com/office/drawing/2014/main" val="10001"/>
                  </a:ext>
                </a:extLst>
              </a:tr>
              <a:tr h="914607">
                <a:tc>
                  <a:txBody>
                    <a:bodyPr/>
                    <a:lstStyle/>
                    <a:p>
                      <a:r>
                        <a:rPr lang="en-US" sz="1800" dirty="0"/>
                        <a:t>Managing Services</a:t>
                      </a:r>
                    </a:p>
                  </a:txBody>
                  <a:tcPr marT="45729" marB="45729"/>
                </a:tc>
                <a:tc>
                  <a:txBody>
                    <a:bodyPr/>
                    <a:lstStyle/>
                    <a:p>
                      <a:r>
                        <a:rPr lang="en-US" sz="1800" dirty="0"/>
                        <a:t>Understand services.</a:t>
                      </a:r>
                    </a:p>
                  </a:txBody>
                  <a:tcPr marT="45729" marB="45729"/>
                </a:tc>
                <a:tc>
                  <a:txBody>
                    <a:bodyPr/>
                    <a:lstStyle/>
                    <a:p>
                      <a:r>
                        <a:rPr lang="en-US" sz="1800" dirty="0"/>
                        <a:t>1.2</a:t>
                      </a:r>
                    </a:p>
                  </a:txBody>
                  <a:tcPr marT="45729" marB="45729"/>
                </a:tc>
                <a:extLst>
                  <a:ext uri="{0D108BD9-81ED-4DB2-BD59-A6C34878D82A}">
                    <a16:rowId xmlns:a16="http://schemas.microsoft.com/office/drawing/2014/main" val="10002"/>
                  </a:ext>
                </a:extLst>
              </a:tr>
              <a:tr h="640224">
                <a:tc>
                  <a:txBody>
                    <a:bodyPr/>
                    <a:lstStyle/>
                    <a:p>
                      <a:r>
                        <a:rPr lang="en-US" sz="1800" dirty="0"/>
                        <a:t>Using the Control Panel</a:t>
                      </a:r>
                    </a:p>
                  </a:txBody>
                  <a:tcPr marT="45729" marB="45729"/>
                </a:tc>
                <a:tc>
                  <a:txBody>
                    <a:bodyPr/>
                    <a:lstStyle/>
                    <a:p>
                      <a:r>
                        <a:rPr lang="en-US" sz="1800" dirty="0"/>
                        <a:t>Understand remote access.</a:t>
                      </a:r>
                    </a:p>
                  </a:txBody>
                  <a:tcPr marT="45729" marB="45729"/>
                </a:tc>
                <a:tc>
                  <a:txBody>
                    <a:bodyPr/>
                    <a:lstStyle/>
                    <a:p>
                      <a:r>
                        <a:rPr lang="en-US" sz="1800" dirty="0"/>
                        <a:t>2.3</a:t>
                      </a:r>
                    </a:p>
                  </a:txBody>
                  <a:tcPr marT="45729" marB="45729"/>
                </a:tc>
                <a:extLst>
                  <a:ext uri="{0D108BD9-81ED-4DB2-BD59-A6C34878D82A}">
                    <a16:rowId xmlns:a16="http://schemas.microsoft.com/office/drawing/2014/main" val="10003"/>
                  </a:ext>
                </a:extLst>
              </a:tr>
            </a:tbl>
          </a:graphicData>
        </a:graphic>
      </p:graphicFrame>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7" name="Content Placeholder 2"/>
          <p:cNvSpPr>
            <a:spLocks noGrp="1"/>
          </p:cNvSpPr>
          <p:nvPr>
            <p:ph type="body" sz="quarter" idx="10"/>
          </p:nvPr>
        </p:nvSpPr>
        <p:spPr>
          <a:xfrm>
            <a:off x="269239" y="1189177"/>
            <a:ext cx="11653523" cy="4801314"/>
          </a:xfrm>
        </p:spPr>
        <p:txBody>
          <a:bodyPr>
            <a:normAutofit/>
          </a:bodyPr>
          <a:lstStyle/>
          <a:p>
            <a:pPr lvl="1"/>
            <a:r>
              <a:rPr lang="en-US" dirty="0"/>
              <a:t>Initial Configuration Tasks utility automatically launches when you first log on to Windows after installation</a:t>
            </a:r>
          </a:p>
          <a:p>
            <a:pPr lvl="2"/>
            <a:r>
              <a:rPr lang="en-US" dirty="0"/>
              <a:t>Provide Computer Information</a:t>
            </a:r>
          </a:p>
          <a:p>
            <a:pPr lvl="2"/>
            <a:r>
              <a:rPr lang="en-US" dirty="0"/>
              <a:t>Update This Server</a:t>
            </a:r>
          </a:p>
          <a:p>
            <a:pPr lvl="2"/>
            <a:r>
              <a:rPr lang="en-US" dirty="0"/>
              <a:t>Customize This Server</a:t>
            </a:r>
          </a:p>
          <a:p>
            <a:pPr lvl="1"/>
            <a:r>
              <a:rPr lang="en-US" dirty="0"/>
              <a:t>Control Panel is a graphical utility used to configure Windows environment and hardware devices</a:t>
            </a:r>
          </a:p>
          <a:p>
            <a:pPr lvl="2"/>
            <a:r>
              <a:rPr lang="en-US" dirty="0"/>
              <a:t>System and Security</a:t>
            </a:r>
          </a:p>
          <a:p>
            <a:pPr lvl="2"/>
            <a:r>
              <a:rPr lang="en-US" dirty="0"/>
              <a:t>Network and Internet</a:t>
            </a:r>
          </a:p>
          <a:p>
            <a:pPr lvl="2"/>
            <a:r>
              <a:rPr lang="en-US" dirty="0"/>
              <a:t>Hardware</a:t>
            </a:r>
          </a:p>
          <a:p>
            <a:pPr lvl="2"/>
            <a:r>
              <a:rPr lang="en-US" dirty="0"/>
              <a:t>Programs</a:t>
            </a:r>
          </a:p>
          <a:p>
            <a:pPr lvl="2"/>
            <a:r>
              <a:rPr lang="en-US" dirty="0"/>
              <a:t>User Accounts</a:t>
            </a:r>
          </a:p>
          <a:p>
            <a:pPr lvl="2"/>
            <a:r>
              <a:rPr lang="en-US" dirty="0"/>
              <a:t>Appearance</a:t>
            </a:r>
          </a:p>
          <a:p>
            <a:pPr lvl="2"/>
            <a:r>
              <a:rPr lang="en-US" dirty="0"/>
              <a:t>Clock, Language, and Region</a:t>
            </a:r>
          </a:p>
          <a:p>
            <a:pPr lvl="2"/>
            <a:r>
              <a:rPr lang="en-US" dirty="0"/>
              <a:t>Ease of Access</a:t>
            </a:r>
          </a:p>
        </p:txBody>
      </p:sp>
      <p:sp>
        <p:nvSpPr>
          <p:cNvPr id="2" name="Title 1"/>
          <p:cNvSpPr>
            <a:spLocks noGrp="1"/>
          </p:cNvSpPr>
          <p:nvPr>
            <p:ph type="title"/>
          </p:nvPr>
        </p:nvSpPr>
        <p:spPr/>
        <p:txBody>
          <a:bodyPr/>
          <a:lstStyle/>
          <a:p>
            <a:r>
              <a:rPr lang="en-US" dirty="0"/>
              <a:t>Server Configuration</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 Initial Configuration Tasks</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 Control Panel</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7" name="Content Placeholder 2"/>
          <p:cNvSpPr>
            <a:spLocks noGrp="1"/>
          </p:cNvSpPr>
          <p:nvPr>
            <p:ph type="body" sz="quarter" idx="10"/>
          </p:nvPr>
        </p:nvSpPr>
        <p:spPr>
          <a:xfrm>
            <a:off x="269239" y="1189177"/>
            <a:ext cx="11653523" cy="2646878"/>
          </a:xfrm>
        </p:spPr>
        <p:txBody>
          <a:bodyPr/>
          <a:lstStyle/>
          <a:p>
            <a:pPr lvl="1"/>
            <a:r>
              <a:rPr lang="en-US" dirty="0"/>
              <a:t>User Account Control (UAC) is a feature that started with Windows Vista and is included with Windows Server 2008 and later that helps prevent unauthorized changes to your computer</a:t>
            </a:r>
          </a:p>
          <a:p>
            <a:pPr lvl="1"/>
            <a:r>
              <a:rPr lang="en-US" dirty="0"/>
              <a:t>UAC is a security component that enables users to perform common tasks without using an administrator account or having to switch user accounts</a:t>
            </a:r>
          </a:p>
          <a:p>
            <a:pPr lvl="1"/>
            <a:r>
              <a:rPr lang="en-US" dirty="0"/>
              <a:t>Before performing actions that can potentially affect your computer’s operation or that change settings that affect other users:</a:t>
            </a:r>
          </a:p>
          <a:p>
            <a:pPr lvl="2"/>
            <a:r>
              <a:rPr lang="en-US" dirty="0"/>
              <a:t>Logged in as an administrator: UAC asks you for permission</a:t>
            </a:r>
          </a:p>
          <a:p>
            <a:pPr lvl="2"/>
            <a:r>
              <a:rPr lang="en-US" dirty="0"/>
              <a:t>Logged in as a standard user: UAC asks you for an administrator password</a:t>
            </a:r>
          </a:p>
        </p:txBody>
      </p:sp>
      <p:sp>
        <p:nvSpPr>
          <p:cNvPr id="2" name="Title 1"/>
          <p:cNvSpPr>
            <a:spLocks noGrp="1"/>
          </p:cNvSpPr>
          <p:nvPr>
            <p:ph type="title"/>
          </p:nvPr>
        </p:nvSpPr>
        <p:spPr/>
        <p:txBody>
          <a:bodyPr/>
          <a:lstStyle/>
          <a:p>
            <a:r>
              <a:rPr lang="en-US"/>
              <a:t>User Account Control</a:t>
            </a:r>
          </a:p>
        </p:txBody>
      </p:sp>
    </p:spTree>
    <p:extLst>
      <p:ext uri="{BB962C8B-B14F-4D97-AF65-F5344CB8AC3E}">
        <p14:creationId xmlns:p14="http://schemas.microsoft.com/office/powerpoint/2010/main" val="421859550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 User Account Control</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Content Placeholder 2"/>
          <p:cNvSpPr>
            <a:spLocks noGrp="1"/>
          </p:cNvSpPr>
          <p:nvPr>
            <p:ph type="body" sz="quarter" idx="10"/>
          </p:nvPr>
        </p:nvSpPr>
        <p:spPr>
          <a:xfrm>
            <a:off x="269239" y="1189177"/>
            <a:ext cx="11653523" cy="3447098"/>
          </a:xfrm>
        </p:spPr>
        <p:txBody>
          <a:bodyPr/>
          <a:lstStyle/>
          <a:p>
            <a:pPr lvl="1"/>
            <a:r>
              <a:rPr lang="en-US" dirty="0"/>
              <a:t>Some of the most important configuration settings for a server administrator are the system settings within the Control Panel</a:t>
            </a:r>
          </a:p>
          <a:p>
            <a:pPr lvl="1"/>
            <a:r>
              <a:rPr lang="en-US" dirty="0"/>
              <a:t>These settings include</a:t>
            </a:r>
          </a:p>
          <a:p>
            <a:pPr lvl="2"/>
            <a:r>
              <a:rPr lang="en-US" dirty="0"/>
              <a:t>Gathering information about your system</a:t>
            </a:r>
          </a:p>
          <a:p>
            <a:pPr lvl="2"/>
            <a:r>
              <a:rPr lang="en-US" dirty="0"/>
              <a:t>Changing the computer name</a:t>
            </a:r>
          </a:p>
          <a:p>
            <a:pPr lvl="2"/>
            <a:r>
              <a:rPr lang="en-US" dirty="0"/>
              <a:t>Adding the computer to a domain</a:t>
            </a:r>
          </a:p>
          <a:p>
            <a:pPr lvl="2"/>
            <a:r>
              <a:rPr lang="en-US" dirty="0"/>
              <a:t>Accessing the device manager</a:t>
            </a:r>
          </a:p>
          <a:p>
            <a:pPr lvl="2"/>
            <a:r>
              <a:rPr lang="en-US" dirty="0"/>
              <a:t>Configuring remote settings</a:t>
            </a:r>
          </a:p>
          <a:p>
            <a:pPr lvl="2"/>
            <a:r>
              <a:rPr lang="en-US" dirty="0"/>
              <a:t>Configuring startup and recovery options</a:t>
            </a:r>
          </a:p>
          <a:p>
            <a:pPr lvl="2"/>
            <a:r>
              <a:rPr lang="en-US" dirty="0"/>
              <a:t>Configuring overall performance settings</a:t>
            </a:r>
          </a:p>
        </p:txBody>
      </p:sp>
      <p:sp>
        <p:nvSpPr>
          <p:cNvPr id="2" name="Title 1"/>
          <p:cNvSpPr>
            <a:spLocks noGrp="1"/>
          </p:cNvSpPr>
          <p:nvPr>
            <p:ph type="title"/>
          </p:nvPr>
        </p:nvSpPr>
        <p:spPr/>
        <p:txBody>
          <a:bodyPr/>
          <a:lstStyle/>
          <a:p>
            <a:r>
              <a:rPr lang="en-US"/>
              <a:t>System Settings</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 System Settings</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 Changing Computer Name and Domain Settings</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Content Placeholder 2"/>
          <p:cNvSpPr>
            <a:spLocks noGrp="1"/>
          </p:cNvSpPr>
          <p:nvPr>
            <p:ph type="body" sz="quarter" idx="10"/>
          </p:nvPr>
        </p:nvSpPr>
        <p:spPr>
          <a:xfrm>
            <a:off x="269239" y="1189177"/>
            <a:ext cx="11653523" cy="1969770"/>
          </a:xfrm>
        </p:spPr>
        <p:txBody>
          <a:bodyPr/>
          <a:lstStyle/>
          <a:p>
            <a:pPr lvl="1"/>
            <a:r>
              <a:rPr lang="en-US" dirty="0"/>
              <a:t>A workgroup is associated with a peer-to-peer network - user accounts are decentralized and stored on each individual computer</a:t>
            </a:r>
          </a:p>
          <a:p>
            <a:pPr lvl="1"/>
            <a:r>
              <a:rPr lang="en-US" dirty="0"/>
              <a:t>A domain is a logical unit of computers that define a security boundary, and it is associated with Active Directory Domain Services (AD DS)</a:t>
            </a:r>
          </a:p>
          <a:p>
            <a:pPr lvl="1"/>
            <a:r>
              <a:rPr lang="en-US" dirty="0"/>
              <a:t>Domain security is generally centralized and controlled by Windows servers acting as domain controllers</a:t>
            </a:r>
          </a:p>
        </p:txBody>
      </p:sp>
      <p:sp>
        <p:nvSpPr>
          <p:cNvPr id="2" name="Title 1"/>
          <p:cNvSpPr>
            <a:spLocks noGrp="1"/>
          </p:cNvSpPr>
          <p:nvPr>
            <p:ph type="title"/>
          </p:nvPr>
        </p:nvSpPr>
        <p:spPr/>
        <p:txBody>
          <a:bodyPr/>
          <a:lstStyle/>
          <a:p>
            <a:r>
              <a:rPr lang="en-US"/>
              <a:t>Workgroups and Domains</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Content Placeholder 2"/>
          <p:cNvSpPr>
            <a:spLocks noGrp="1"/>
          </p:cNvSpPr>
          <p:nvPr>
            <p:ph type="body" sz="quarter" idx="10"/>
          </p:nvPr>
        </p:nvSpPr>
        <p:spPr>
          <a:xfrm>
            <a:off x="269239" y="1189177"/>
            <a:ext cx="11653523" cy="2369880"/>
          </a:xfrm>
        </p:spPr>
        <p:txBody>
          <a:bodyPr/>
          <a:lstStyle/>
          <a:p>
            <a:pPr lvl="1"/>
            <a:r>
              <a:rPr lang="en-US" dirty="0"/>
              <a:t>With Remote Assistance and Remote Desktop, you can access a computer running Windows with another computer that is connected to the network or over the Internet just as if you were sitting in front of the remote computer</a:t>
            </a:r>
          </a:p>
          <a:p>
            <a:pPr lvl="2"/>
            <a:r>
              <a:rPr lang="en-US" dirty="0"/>
              <a:t>You will be able to use your mouse and keyboard to access the desktop, taskbar, and Start menu</a:t>
            </a:r>
          </a:p>
          <a:p>
            <a:pPr lvl="2"/>
            <a:r>
              <a:rPr lang="en-US" dirty="0"/>
              <a:t>You will be able to run programs and access all of the configuration tools</a:t>
            </a:r>
          </a:p>
          <a:p>
            <a:pPr lvl="2"/>
            <a:r>
              <a:rPr lang="en-US" dirty="0"/>
              <a:t>RDP - 3389</a:t>
            </a:r>
          </a:p>
          <a:p>
            <a:pPr lvl="1"/>
            <a:endParaRPr lang="en-US" dirty="0"/>
          </a:p>
        </p:txBody>
      </p:sp>
      <p:sp>
        <p:nvSpPr>
          <p:cNvPr id="2" name="Title 1"/>
          <p:cNvSpPr>
            <a:spLocks noGrp="1"/>
          </p:cNvSpPr>
          <p:nvPr>
            <p:ph type="title"/>
          </p:nvPr>
        </p:nvSpPr>
        <p:spPr/>
        <p:txBody>
          <a:bodyPr/>
          <a:lstStyle/>
          <a:p>
            <a:r>
              <a:rPr lang="en-US" dirty="0"/>
              <a:t>Remote Assistance and Remote Desktop</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Content Placeholder 2"/>
          <p:cNvSpPr>
            <a:spLocks noGrp="1"/>
          </p:cNvSpPr>
          <p:nvPr>
            <p:ph type="body" sz="quarter" idx="10"/>
          </p:nvPr>
        </p:nvSpPr>
        <p:spPr>
          <a:xfrm>
            <a:off x="269239" y="1189177"/>
            <a:ext cx="11653523" cy="2369880"/>
          </a:xfrm>
        </p:spPr>
        <p:txBody>
          <a:bodyPr/>
          <a:lstStyle/>
          <a:p>
            <a:pPr lvl="1"/>
            <a:r>
              <a:rPr lang="en-US" dirty="0"/>
              <a:t>You need to configure the following on a computer running Windows Server 2008 R2:</a:t>
            </a:r>
          </a:p>
          <a:p>
            <a:pPr lvl="2"/>
            <a:r>
              <a:rPr lang="en-US" dirty="0"/>
              <a:t>IP address and corresponding subnet mask: Uniquely identifies the computer using a logical address</a:t>
            </a:r>
          </a:p>
          <a:p>
            <a:pPr lvl="2"/>
            <a:r>
              <a:rPr lang="en-US" dirty="0"/>
              <a:t>Default gateway: Router that connects to the other networks or the Internet</a:t>
            </a:r>
          </a:p>
          <a:p>
            <a:pPr lvl="2"/>
            <a:r>
              <a:rPr lang="en-US" dirty="0"/>
              <a:t>DNS server: Provide name resolution</a:t>
            </a:r>
          </a:p>
          <a:p>
            <a:pPr lvl="1"/>
            <a:r>
              <a:rPr lang="en-US" dirty="0"/>
              <a:t>The IP address, subnet mask, default gateway, and DNS servers can be configured manually or automatically via a DHCP server</a:t>
            </a:r>
          </a:p>
        </p:txBody>
      </p:sp>
      <p:sp>
        <p:nvSpPr>
          <p:cNvPr id="2" name="Title 1"/>
          <p:cNvSpPr>
            <a:spLocks noGrp="1"/>
          </p:cNvSpPr>
          <p:nvPr>
            <p:ph type="title"/>
          </p:nvPr>
        </p:nvSpPr>
        <p:spPr/>
        <p:txBody>
          <a:bodyPr/>
          <a:lstStyle/>
          <a:p>
            <a:r>
              <a:rPr lang="en-US"/>
              <a:t>IP Address Settings</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 Networking</a:t>
            </a:r>
          </a:p>
        </p:txBody>
      </p:sp>
      <p:sp>
        <p:nvSpPr>
          <p:cNvPr id="4" name="Content Placeholder 2"/>
          <p:cNvSpPr>
            <a:spLocks noGrp="1"/>
          </p:cNvSpPr>
          <p:nvPr>
            <p:ph type="body" sz="quarter" idx="10"/>
          </p:nvPr>
        </p:nvSpPr>
        <p:spPr>
          <a:xfrm>
            <a:off x="269239" y="1189177"/>
            <a:ext cx="11653523" cy="1477328"/>
          </a:xfrm>
        </p:spPr>
        <p:txBody>
          <a:bodyPr/>
          <a:lstStyle/>
          <a:p>
            <a:pPr lvl="1"/>
            <a:r>
              <a:rPr lang="en-US" dirty="0"/>
              <a:t>Network and Sharing Center</a:t>
            </a:r>
          </a:p>
          <a:p>
            <a:pPr lvl="1"/>
            <a:r>
              <a:rPr lang="en-US" dirty="0"/>
              <a:t>IPv4</a:t>
            </a:r>
          </a:p>
          <a:p>
            <a:pPr lvl="1"/>
            <a:r>
              <a:rPr lang="en-US" dirty="0"/>
              <a:t>IPv6</a:t>
            </a:r>
          </a:p>
          <a:p>
            <a:pPr lvl="1"/>
            <a:r>
              <a:rPr lang="en-US" dirty="0"/>
              <a:t>Proxy Settings</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Content Placeholder 2"/>
          <p:cNvSpPr>
            <a:spLocks noGrp="1"/>
          </p:cNvSpPr>
          <p:nvPr>
            <p:ph type="body" sz="quarter" idx="10"/>
          </p:nvPr>
        </p:nvSpPr>
        <p:spPr>
          <a:xfrm>
            <a:off x="269239" y="1189177"/>
            <a:ext cx="11653523" cy="1692771"/>
          </a:xfrm>
        </p:spPr>
        <p:txBody>
          <a:bodyPr/>
          <a:lstStyle/>
          <a:p>
            <a:pPr lvl="1"/>
            <a:r>
              <a:rPr lang="en-US" dirty="0"/>
              <a:t>Device drivers is a component that enables Windows to interact with a device </a:t>
            </a:r>
          </a:p>
          <a:p>
            <a:pPr lvl="1"/>
            <a:r>
              <a:rPr lang="en-US" dirty="0"/>
              <a:t>Although Windows Server 2008 R2 includes many drivers (built-in or included on the installation DVD), some drivers come with the device</a:t>
            </a:r>
          </a:p>
          <a:p>
            <a:pPr lvl="1"/>
            <a:r>
              <a:rPr lang="en-US" dirty="0"/>
              <a:t>To prevent you from constantly inserting the Windows Server 2008 R2 installation DVD, Windows Server 2008 R2 includes a driver store with an extensive library of device drivers</a:t>
            </a:r>
          </a:p>
        </p:txBody>
      </p:sp>
      <p:sp>
        <p:nvSpPr>
          <p:cNvPr id="2" name="Title 1"/>
          <p:cNvSpPr>
            <a:spLocks noGrp="1"/>
          </p:cNvSpPr>
          <p:nvPr>
            <p:ph type="title"/>
          </p:nvPr>
        </p:nvSpPr>
        <p:spPr/>
        <p:txBody>
          <a:bodyPr/>
          <a:lstStyle/>
          <a:p>
            <a:r>
              <a:rPr lang="en-US"/>
              <a:t>Device Drivers</a:t>
            </a:r>
          </a:p>
        </p:txBody>
      </p:sp>
      <p:pic>
        <p:nvPicPr>
          <p:cNvPr id="3" name="Picture 2"/>
          <p:cNvPicPr>
            <a:picLocks noChangeAspect="1"/>
          </p:cNvPicPr>
          <p:nvPr/>
        </p:nvPicPr>
        <p:blipFill>
          <a:blip r:embed="rId3"/>
          <a:stretch>
            <a:fillRect/>
          </a:stretch>
        </p:blipFill>
        <p:spPr>
          <a:xfrm>
            <a:off x="1981200" y="3048000"/>
            <a:ext cx="3724275" cy="3209925"/>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Content Placeholder 2"/>
          <p:cNvSpPr>
            <a:spLocks noGrp="1"/>
          </p:cNvSpPr>
          <p:nvPr>
            <p:ph type="body" sz="quarter" idx="10"/>
          </p:nvPr>
        </p:nvSpPr>
        <p:spPr>
          <a:xfrm>
            <a:off x="269239" y="1189177"/>
            <a:ext cx="11653523" cy="2985433"/>
          </a:xfrm>
        </p:spPr>
        <p:txBody>
          <a:bodyPr/>
          <a:lstStyle/>
          <a:p>
            <a:pPr lvl="1"/>
            <a:r>
              <a:rPr lang="en-US" dirty="0"/>
              <a:t>Windows assigns system resources to the devices you are installing so that the device can operate at the same time as other devices</a:t>
            </a:r>
          </a:p>
          <a:p>
            <a:pPr lvl="1"/>
            <a:r>
              <a:rPr lang="en-US" dirty="0"/>
              <a:t>Devices communicate with the system using the following hardware resources</a:t>
            </a:r>
          </a:p>
          <a:p>
            <a:pPr lvl="2"/>
            <a:r>
              <a:rPr lang="en-US" dirty="0"/>
              <a:t>IRQ: Interrupt request used to access the device</a:t>
            </a:r>
          </a:p>
          <a:p>
            <a:pPr lvl="2"/>
            <a:r>
              <a:rPr lang="en-US" dirty="0"/>
              <a:t>DMA channels: Direct Memory Access enables certain components within the device to access system memory without using the Central Processing Unit (CPU)</a:t>
            </a:r>
          </a:p>
          <a:p>
            <a:pPr lvl="2"/>
            <a:r>
              <a:rPr lang="en-US" dirty="0"/>
              <a:t>Input/output (I/O) port addresses: Communication between the CPU and hardware devices</a:t>
            </a:r>
          </a:p>
          <a:p>
            <a:pPr lvl="2"/>
            <a:r>
              <a:rPr lang="en-US" dirty="0"/>
              <a:t>Memory address ranges: Range used by a device to access the computer’s primary storage memory</a:t>
            </a:r>
          </a:p>
        </p:txBody>
      </p:sp>
      <p:sp>
        <p:nvSpPr>
          <p:cNvPr id="2" name="Title 1"/>
          <p:cNvSpPr>
            <a:spLocks noGrp="1"/>
          </p:cNvSpPr>
          <p:nvPr>
            <p:ph type="title"/>
          </p:nvPr>
        </p:nvSpPr>
        <p:spPr/>
        <p:txBody>
          <a:bodyPr/>
          <a:lstStyle/>
          <a:p>
            <a:r>
              <a:rPr lang="en-US"/>
              <a:t>Hardware Resources</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Content Placeholder 2"/>
          <p:cNvSpPr>
            <a:spLocks noGrp="1"/>
          </p:cNvSpPr>
          <p:nvPr>
            <p:ph type="body" sz="quarter" idx="10"/>
          </p:nvPr>
        </p:nvSpPr>
        <p:spPr>
          <a:xfrm>
            <a:off x="269239" y="1189177"/>
            <a:ext cx="11653523" cy="2769989"/>
          </a:xfrm>
        </p:spPr>
        <p:txBody>
          <a:bodyPr/>
          <a:lstStyle/>
          <a:p>
            <a:pPr lvl="1"/>
            <a:r>
              <a:rPr lang="en-US" dirty="0"/>
              <a:t>Plug and Play (PnP) technology provides a combination of software and hardware support that enables the Windows operating system to detect and configure hardware</a:t>
            </a:r>
          </a:p>
          <a:p>
            <a:pPr lvl="1"/>
            <a:r>
              <a:rPr lang="en-US" dirty="0"/>
              <a:t>Plug and Play (PnP) installs the appropriate driver after the hardware is detected</a:t>
            </a:r>
          </a:p>
          <a:p>
            <a:pPr lvl="1"/>
            <a:r>
              <a:rPr lang="en-US" dirty="0"/>
              <a:t>Plug and Play manager performs the following steps:</a:t>
            </a:r>
          </a:p>
          <a:p>
            <a:pPr marL="1004887" lvl="2" indent="-457200">
              <a:buFont typeface="+mj-lt"/>
              <a:buAutoNum type="arabicPeriod"/>
            </a:pPr>
            <a:r>
              <a:rPr lang="en-US" dirty="0"/>
              <a:t>Verify the hardware resources the device requires (memory, I/O, DMA channels)</a:t>
            </a:r>
          </a:p>
          <a:p>
            <a:pPr marL="1004887" lvl="2" indent="-457200">
              <a:buFont typeface="+mj-lt"/>
              <a:buAutoNum type="arabicPeriod"/>
            </a:pPr>
            <a:r>
              <a:rPr lang="en-US" dirty="0"/>
              <a:t>Verify the hardware identification for the device and installs and configures the appropriate driver</a:t>
            </a:r>
          </a:p>
          <a:p>
            <a:pPr marL="1004887" lvl="2" indent="-457200">
              <a:buFont typeface="+mj-lt"/>
              <a:buAutoNum type="arabicPeriod"/>
            </a:pPr>
            <a:r>
              <a:rPr lang="en-US" dirty="0"/>
              <a:t>If multiple drivers are found, the driver that most closely matches the hardware is selected</a:t>
            </a:r>
          </a:p>
          <a:p>
            <a:pPr marL="1004887" lvl="2" indent="-457200">
              <a:buFont typeface="+mj-lt"/>
              <a:buAutoNum type="arabicPeriod"/>
            </a:pPr>
            <a:r>
              <a:rPr lang="en-US" dirty="0"/>
              <a:t>The driver is installed and the OS starts the device</a:t>
            </a:r>
          </a:p>
        </p:txBody>
      </p:sp>
      <p:sp>
        <p:nvSpPr>
          <p:cNvPr id="2" name="Title 1"/>
          <p:cNvSpPr>
            <a:spLocks noGrp="1"/>
          </p:cNvSpPr>
          <p:nvPr>
            <p:ph type="title"/>
          </p:nvPr>
        </p:nvSpPr>
        <p:spPr/>
        <p:txBody>
          <a:bodyPr/>
          <a:lstStyle/>
          <a:p>
            <a:r>
              <a:rPr lang="en-US"/>
              <a:t>Plug and Play (PnP)</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Content Placeholder 2"/>
          <p:cNvSpPr>
            <a:spLocks noGrp="1"/>
          </p:cNvSpPr>
          <p:nvPr>
            <p:ph type="body" sz="quarter" idx="10"/>
          </p:nvPr>
        </p:nvSpPr>
        <p:spPr>
          <a:xfrm>
            <a:off x="269239" y="1189177"/>
            <a:ext cx="11653523" cy="2369880"/>
          </a:xfrm>
        </p:spPr>
        <p:txBody>
          <a:bodyPr/>
          <a:lstStyle/>
          <a:p>
            <a:pPr lvl="1"/>
            <a:r>
              <a:rPr lang="en-US" dirty="0"/>
              <a:t>Microsoft started using signed drivers to help mitigate faulty device drivers</a:t>
            </a:r>
          </a:p>
          <a:p>
            <a:pPr lvl="1"/>
            <a:r>
              <a:rPr lang="en-US" dirty="0"/>
              <a:t>A signed driver includes a digital signature, which is an electronic security mark that can indicate the publisher of the software and information that can show if a driver has been altered</a:t>
            </a:r>
          </a:p>
          <a:p>
            <a:pPr lvl="1"/>
            <a:r>
              <a:rPr lang="en-US" dirty="0"/>
              <a:t>All drivers running on a 64-bit version of Windows must be signed before Windows will load them</a:t>
            </a:r>
          </a:p>
          <a:p>
            <a:pPr lvl="1"/>
            <a:r>
              <a:rPr lang="en-US" dirty="0"/>
              <a:t>Windows Server 2008 R2 is delivered only in 64-bit versions; all drivers must also be signed for Windows Server 2008</a:t>
            </a:r>
          </a:p>
          <a:p>
            <a:pPr lvl="1"/>
            <a:r>
              <a:rPr lang="en-US" dirty="0"/>
              <a:t>2012-2016-2022</a:t>
            </a:r>
          </a:p>
        </p:txBody>
      </p:sp>
      <p:sp>
        <p:nvSpPr>
          <p:cNvPr id="2" name="Title 1"/>
          <p:cNvSpPr>
            <a:spLocks noGrp="1"/>
          </p:cNvSpPr>
          <p:nvPr>
            <p:ph type="title"/>
          </p:nvPr>
        </p:nvSpPr>
        <p:spPr/>
        <p:txBody>
          <a:bodyPr/>
          <a:lstStyle/>
          <a:p>
            <a:r>
              <a:rPr lang="en-US"/>
              <a:t>Signed Drivers</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Content Placeholder 2"/>
          <p:cNvSpPr>
            <a:spLocks noGrp="1"/>
          </p:cNvSpPr>
          <p:nvPr>
            <p:ph type="body" sz="quarter" idx="10"/>
          </p:nvPr>
        </p:nvSpPr>
        <p:spPr>
          <a:xfrm>
            <a:off x="269239" y="1189177"/>
            <a:ext cx="11653523" cy="3939540"/>
          </a:xfrm>
        </p:spPr>
        <p:txBody>
          <a:bodyPr/>
          <a:lstStyle/>
          <a:p>
            <a:pPr lvl="1"/>
            <a:r>
              <a:rPr lang="en-US" dirty="0"/>
              <a:t>Device Manager is tool in Windows Server used to manage hardware devices:</a:t>
            </a:r>
          </a:p>
          <a:p>
            <a:pPr lvl="2"/>
            <a:r>
              <a:rPr lang="en-US" dirty="0"/>
              <a:t>Install and update drivers for hardware devices</a:t>
            </a:r>
          </a:p>
          <a:p>
            <a:pPr lvl="2"/>
            <a:r>
              <a:rPr lang="en-US" dirty="0"/>
              <a:t>Change the hardware settings</a:t>
            </a:r>
          </a:p>
          <a:p>
            <a:pPr lvl="2"/>
            <a:r>
              <a:rPr lang="en-US" dirty="0"/>
              <a:t>Troubleshoot problems</a:t>
            </a:r>
          </a:p>
          <a:p>
            <a:pPr lvl="1"/>
            <a:r>
              <a:rPr lang="en-US" dirty="0"/>
              <a:t>When diagnosing problems with Device Manager:</a:t>
            </a:r>
          </a:p>
          <a:p>
            <a:pPr lvl="2"/>
            <a:r>
              <a:rPr lang="en-US" dirty="0"/>
              <a:t>A down black arrow indicates a disabled device</a:t>
            </a:r>
            <a:br>
              <a:rPr lang="en-US" dirty="0"/>
            </a:br>
            <a:r>
              <a:rPr lang="en-US" dirty="0"/>
              <a:t>A disabled device is a device that is physically present in the computer and is consuming resources, but does not have a driver loaded</a:t>
            </a:r>
          </a:p>
          <a:p>
            <a:pPr lvl="2"/>
            <a:r>
              <a:rPr lang="en-US" dirty="0"/>
              <a:t>A black exclamation point (!) on a yellow field indicates the device is in a problem state</a:t>
            </a:r>
          </a:p>
          <a:p>
            <a:pPr lvl="2"/>
            <a:r>
              <a:rPr lang="en-US" dirty="0"/>
              <a:t>You also need to check whether any devices are listed under Other devices or have a generic name such as Ethernet Controller or PCI Simple Communications Controller, which indicates that the proper driver is not loaded</a:t>
            </a:r>
          </a:p>
        </p:txBody>
      </p:sp>
      <p:sp>
        <p:nvSpPr>
          <p:cNvPr id="2" name="Title 1"/>
          <p:cNvSpPr>
            <a:spLocks noGrp="1"/>
          </p:cNvSpPr>
          <p:nvPr>
            <p:ph type="title"/>
          </p:nvPr>
        </p:nvSpPr>
        <p:spPr/>
        <p:txBody>
          <a:bodyPr/>
          <a:lstStyle/>
          <a:p>
            <a:r>
              <a:rPr lang="en-US"/>
              <a:t>Device Manager</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 Devices</a:t>
            </a:r>
          </a:p>
        </p:txBody>
      </p:sp>
      <p:sp>
        <p:nvSpPr>
          <p:cNvPr id="4" name="Content Placeholder 2"/>
          <p:cNvSpPr>
            <a:spLocks noGrp="1"/>
          </p:cNvSpPr>
          <p:nvPr>
            <p:ph type="body" sz="quarter" idx="10"/>
          </p:nvPr>
        </p:nvSpPr>
        <p:spPr>
          <a:xfrm>
            <a:off x="269239" y="1189177"/>
            <a:ext cx="11653523" cy="800219"/>
          </a:xfrm>
        </p:spPr>
        <p:txBody>
          <a:bodyPr/>
          <a:lstStyle/>
          <a:p>
            <a:pPr lvl="1"/>
            <a:r>
              <a:rPr lang="en-US" dirty="0"/>
              <a:t>Device Manager</a:t>
            </a:r>
          </a:p>
          <a:p>
            <a:pPr lvl="1"/>
            <a:r>
              <a:rPr lang="en-US" dirty="0"/>
              <a:t>Devices and Printers</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 Administrative Tools</a:t>
            </a:r>
          </a:p>
        </p:txBody>
      </p:sp>
      <p:sp>
        <p:nvSpPr>
          <p:cNvPr id="4" name="Content Placeholder 2"/>
          <p:cNvSpPr>
            <a:spLocks noGrp="1"/>
          </p:cNvSpPr>
          <p:nvPr>
            <p:ph type="body" sz="quarter" idx="10"/>
          </p:nvPr>
        </p:nvSpPr>
        <p:spPr>
          <a:xfrm>
            <a:off x="269239" y="1189177"/>
            <a:ext cx="11653523" cy="2154436"/>
          </a:xfrm>
        </p:spPr>
        <p:txBody>
          <a:bodyPr/>
          <a:lstStyle/>
          <a:p>
            <a:pPr lvl="1"/>
            <a:r>
              <a:rPr lang="en-US" dirty="0"/>
              <a:t>MMC</a:t>
            </a:r>
          </a:p>
          <a:p>
            <a:pPr lvl="1"/>
            <a:r>
              <a:rPr lang="en-US" dirty="0"/>
              <a:t>Administrative Tools</a:t>
            </a:r>
          </a:p>
          <a:p>
            <a:pPr lvl="1"/>
            <a:r>
              <a:rPr lang="en-US" dirty="0"/>
              <a:t>Computer Management</a:t>
            </a:r>
          </a:p>
          <a:p>
            <a:pPr lvl="1"/>
            <a:r>
              <a:rPr lang="en-US" dirty="0"/>
              <a:t>Server Manager</a:t>
            </a:r>
          </a:p>
          <a:p>
            <a:pPr lvl="1"/>
            <a:r>
              <a:rPr lang="en-US" dirty="0"/>
              <a:t>Services</a:t>
            </a:r>
          </a:p>
          <a:p>
            <a:pPr lvl="1"/>
            <a:r>
              <a:rPr lang="en-US" dirty="0"/>
              <a:t>Registry</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 Roles</a:t>
            </a:r>
          </a:p>
        </p:txBody>
      </p:sp>
      <p:pic>
        <p:nvPicPr>
          <p:cNvPr id="53252" name="Picture 3" descr="E:\Desktop\BoxTwelve\Wiley\98-365 Server Administration Fundamentals\Pictures\F0216.jpg"/>
          <p:cNvPicPr>
            <a:picLocks noChangeAspect="1" noChangeArrowheads="1"/>
          </p:cNvPicPr>
          <p:nvPr/>
        </p:nvPicPr>
        <p:blipFill>
          <a:blip r:embed="rId3">
            <a:extLst>
              <a:ext uri="{28A0092B-C50C-407E-A947-70E740481C1C}">
                <a14:useLocalDpi xmlns:a14="http://schemas.microsoft.com/office/drawing/2010/main" val="0"/>
              </a:ext>
            </a:extLst>
          </a:blip>
          <a:srcRect l="13187" t="4906" r="10507" b="10269"/>
          <a:stretch>
            <a:fillRect/>
          </a:stretch>
        </p:blipFill>
        <p:spPr bwMode="auto">
          <a:xfrm>
            <a:off x="3048000" y="1524000"/>
            <a:ext cx="5940425"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Server Features</a:t>
            </a:r>
          </a:p>
        </p:txBody>
      </p:sp>
      <p:pic>
        <p:nvPicPr>
          <p:cNvPr id="55300" name="Picture 3" descr="E:\Desktop\BoxTwelve\Wiley\98-365 Server Administration Fundamentals\Pictures\F0217.jpg"/>
          <p:cNvPicPr>
            <a:picLocks noChangeAspect="1" noChangeArrowheads="1"/>
          </p:cNvPicPr>
          <p:nvPr/>
        </p:nvPicPr>
        <p:blipFill>
          <a:blip r:embed="rId3">
            <a:extLst>
              <a:ext uri="{28A0092B-C50C-407E-A947-70E740481C1C}">
                <a14:useLocalDpi xmlns:a14="http://schemas.microsoft.com/office/drawing/2010/main" val="0"/>
              </a:ext>
            </a:extLst>
          </a:blip>
          <a:srcRect l="15253" t="6645" r="11455" b="17406"/>
          <a:stretch>
            <a:fillRect/>
          </a:stretch>
        </p:blipFill>
        <p:spPr bwMode="auto">
          <a:xfrm>
            <a:off x="3048000" y="1524000"/>
            <a:ext cx="6372225"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Content Placeholder 2"/>
          <p:cNvSpPr>
            <a:spLocks noGrp="1"/>
          </p:cNvSpPr>
          <p:nvPr>
            <p:ph type="body" sz="quarter" idx="10"/>
          </p:nvPr>
        </p:nvSpPr>
        <p:spPr>
          <a:xfrm>
            <a:off x="269239" y="1189177"/>
            <a:ext cx="11653523" cy="1969770"/>
          </a:xfrm>
        </p:spPr>
        <p:txBody>
          <a:bodyPr/>
          <a:lstStyle/>
          <a:p>
            <a:pPr lvl="1"/>
            <a:r>
              <a:rPr lang="en-US" dirty="0"/>
              <a:t>The Server Core installation provides a minimal environment with no Windows Explorer shell for running specific server roles and no Start button. </a:t>
            </a:r>
          </a:p>
          <a:p>
            <a:pPr lvl="1"/>
            <a:r>
              <a:rPr lang="en-US" dirty="0"/>
              <a:t>Server core can be managed locally at a command prompt or remotely using Remote Desktop Services</a:t>
            </a:r>
          </a:p>
          <a:p>
            <a:pPr lvl="1"/>
            <a:r>
              <a:rPr lang="en-US" dirty="0"/>
              <a:t>You can also manage the server remotely using administrative tools based on the Microsoft Management Console (MMC) including Computer Management and Server Manager consoles</a:t>
            </a:r>
          </a:p>
        </p:txBody>
      </p:sp>
      <p:sp>
        <p:nvSpPr>
          <p:cNvPr id="2" name="Title 1"/>
          <p:cNvSpPr>
            <a:spLocks noGrp="1"/>
          </p:cNvSpPr>
          <p:nvPr>
            <p:ph type="title"/>
          </p:nvPr>
        </p:nvSpPr>
        <p:spPr/>
        <p:txBody>
          <a:bodyPr/>
          <a:lstStyle/>
          <a:p>
            <a:r>
              <a:rPr lang="en-US" dirty="0"/>
              <a:t>Server Core</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Server Core</a:t>
            </a:r>
          </a:p>
        </p:txBody>
      </p:sp>
      <p:pic>
        <p:nvPicPr>
          <p:cNvPr id="63492" name="Picture 3" descr="E:\Desktop\BoxTwelve\Wiley\98-365 Server Administration Fundamentals\Pictures\F0221.jpg"/>
          <p:cNvPicPr>
            <a:picLocks noChangeAspect="1" noChangeArrowheads="1"/>
          </p:cNvPicPr>
          <p:nvPr/>
        </p:nvPicPr>
        <p:blipFill>
          <a:blip r:embed="rId2">
            <a:extLst>
              <a:ext uri="{28A0092B-C50C-407E-A947-70E740481C1C}">
                <a14:useLocalDpi xmlns:a14="http://schemas.microsoft.com/office/drawing/2010/main" val="0"/>
              </a:ext>
            </a:extLst>
          </a:blip>
          <a:srcRect l="15289" t="6013" r="11372" b="29193"/>
          <a:stretch>
            <a:fillRect/>
          </a:stretch>
        </p:blipFill>
        <p:spPr bwMode="auto">
          <a:xfrm>
            <a:off x="2514600" y="1531938"/>
            <a:ext cx="7315200" cy="484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lvl="1"/>
            <a:endParaRPr lang="en-US"/>
          </a:p>
          <a:p>
            <a:endParaRPr lang="en-US" dirty="0"/>
          </a:p>
        </p:txBody>
      </p:sp>
      <p:sp>
        <p:nvSpPr>
          <p:cNvPr id="3" name="Title 2"/>
          <p:cNvSpPr>
            <a:spLocks noGrp="1"/>
          </p:cNvSpPr>
          <p:nvPr>
            <p:ph type="title"/>
          </p:nvPr>
        </p:nvSpPr>
        <p:spPr/>
        <p:txBody>
          <a:bodyPr/>
          <a:lstStyle/>
          <a:p>
            <a:r>
              <a:rPr lang="en-US"/>
              <a:t>Additional Resources &amp; Next Steps</a:t>
            </a:r>
            <a:endParaRPr lang="en-US" dirty="0"/>
          </a:p>
        </p:txBody>
      </p:sp>
      <p:sp>
        <p:nvSpPr>
          <p:cNvPr id="4" name="TextBox 3"/>
          <p:cNvSpPr txBox="1"/>
          <p:nvPr/>
        </p:nvSpPr>
        <p:spPr>
          <a:xfrm>
            <a:off x="457200" y="4267200"/>
            <a:ext cx="3352800" cy="2200275"/>
          </a:xfrm>
          <a:prstGeom prst="rect">
            <a:avLst/>
          </a:prstGeom>
          <a:solidFill>
            <a:schemeClr val="accent6"/>
          </a:solidFill>
        </p:spPr>
        <p:txBody>
          <a:bodyPr lIns="182880" tIns="146304" rIns="182880" bIns="146304"/>
          <a:lstStyle/>
          <a:p>
            <a:pPr eaLnBrk="1" hangingPunct="1">
              <a:lnSpc>
                <a:spcPct val="90000"/>
              </a:lnSpc>
              <a:spcAft>
                <a:spcPts val="600"/>
              </a:spcAft>
              <a:defRPr/>
            </a:pPr>
            <a:r>
              <a:rPr lang="en-US" sz="3200" u="sng" dirty="0">
                <a:solidFill>
                  <a:srgbClr val="FFFFFF">
                    <a:lumMod val="95000"/>
                  </a:srgbClr>
                </a:solidFill>
                <a:latin typeface="Segoe UI Light"/>
              </a:rPr>
              <a:t>Books</a:t>
            </a:r>
          </a:p>
          <a:p>
            <a:pPr marL="342900" indent="-342900" eaLnBrk="1" hangingPunct="1">
              <a:lnSpc>
                <a:spcPct val="90000"/>
              </a:lnSpc>
              <a:spcAft>
                <a:spcPts val="600"/>
              </a:spcAft>
              <a:buFont typeface="Arial" panose="020B0604020202020204" pitchFamily="34" charset="0"/>
              <a:buChar char="•"/>
              <a:defRPr/>
            </a:pPr>
            <a:r>
              <a:rPr lang="en-US" sz="2000" dirty="0">
                <a:solidFill>
                  <a:srgbClr val="FFFFFF">
                    <a:lumMod val="95000"/>
                  </a:srgbClr>
                </a:solidFill>
                <a:latin typeface="Segoe UI Light"/>
              </a:rPr>
              <a:t>Exam 98-366: MTA Networking Fundamentals (Microsoft Official Academic Course)</a:t>
            </a:r>
          </a:p>
        </p:txBody>
      </p:sp>
      <p:sp>
        <p:nvSpPr>
          <p:cNvPr id="68613" name="TextBox 4"/>
          <p:cNvSpPr txBox="1">
            <a:spLocks noChangeArrowheads="1"/>
          </p:cNvSpPr>
          <p:nvPr/>
        </p:nvSpPr>
        <p:spPr bwMode="auto">
          <a:xfrm>
            <a:off x="2933700" y="1143000"/>
            <a:ext cx="6324600" cy="375443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2880" tIns="146304" rIns="182880" bIns="146304"/>
          <a:lstStyle>
            <a:lvl1pPr defTabSz="685800">
              <a:defRPr>
                <a:solidFill>
                  <a:schemeClr val="tx1"/>
                </a:solidFill>
                <a:latin typeface="Arial" panose="020B0604020202020204" pitchFamily="34" charset="0"/>
              </a:defRPr>
            </a:lvl1pPr>
            <a:lvl2pPr marL="428625" indent="-176213" defTabSz="685800">
              <a:defRPr>
                <a:solidFill>
                  <a:schemeClr val="tx1"/>
                </a:solidFill>
                <a:latin typeface="Arial" panose="020B0604020202020204" pitchFamily="34" charset="0"/>
              </a:defRPr>
            </a:lvl2pPr>
            <a:lvl3pPr marL="1143000" indent="-228600" defTabSz="685800">
              <a:defRPr>
                <a:solidFill>
                  <a:schemeClr val="tx1"/>
                </a:solidFill>
                <a:latin typeface="Arial" panose="020B0604020202020204" pitchFamily="34" charset="0"/>
              </a:defRPr>
            </a:lvl3pPr>
            <a:lvl4pPr marL="1600200" indent="-228600" defTabSz="685800">
              <a:defRPr>
                <a:solidFill>
                  <a:schemeClr val="tx1"/>
                </a:solidFill>
                <a:latin typeface="Arial" panose="020B0604020202020204" pitchFamily="34" charset="0"/>
              </a:defRPr>
            </a:lvl4pPr>
            <a:lvl5pPr marL="2057400" indent="-228600" defTabSz="685800">
              <a:defRPr>
                <a:solidFill>
                  <a:schemeClr val="tx1"/>
                </a:solidFill>
                <a:latin typeface="Arial" panose="020B0604020202020204" pitchFamily="34" charset="0"/>
              </a:defRPr>
            </a:lvl5pPr>
            <a:lvl6pPr marL="2514600" indent="-228600" defTabSz="685800" eaLnBrk="0" fontAlgn="base" hangingPunct="0">
              <a:spcBef>
                <a:spcPct val="0"/>
              </a:spcBef>
              <a:spcAft>
                <a:spcPct val="0"/>
              </a:spcAft>
              <a:defRPr>
                <a:solidFill>
                  <a:schemeClr val="tx1"/>
                </a:solidFill>
                <a:latin typeface="Arial" panose="020B0604020202020204" pitchFamily="34" charset="0"/>
              </a:defRPr>
            </a:lvl6pPr>
            <a:lvl7pPr marL="2971800" indent="-228600" defTabSz="685800" eaLnBrk="0" fontAlgn="base" hangingPunct="0">
              <a:spcBef>
                <a:spcPct val="0"/>
              </a:spcBef>
              <a:spcAft>
                <a:spcPct val="0"/>
              </a:spcAft>
              <a:defRPr>
                <a:solidFill>
                  <a:schemeClr val="tx1"/>
                </a:solidFill>
                <a:latin typeface="Arial" panose="020B0604020202020204" pitchFamily="34" charset="0"/>
              </a:defRPr>
            </a:lvl7pPr>
            <a:lvl8pPr marL="3429000" indent="-228600" defTabSz="685800" eaLnBrk="0" fontAlgn="base" hangingPunct="0">
              <a:spcBef>
                <a:spcPct val="0"/>
              </a:spcBef>
              <a:spcAft>
                <a:spcPct val="0"/>
              </a:spcAft>
              <a:defRPr>
                <a:solidFill>
                  <a:schemeClr val="tx1"/>
                </a:solidFill>
                <a:latin typeface="Arial" panose="020B0604020202020204" pitchFamily="34" charset="0"/>
              </a:defRPr>
            </a:lvl8pPr>
            <a:lvl9pPr marL="3886200" indent="-228600" defTabSz="6858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spcBef>
                <a:spcPct val="20000"/>
              </a:spcBef>
              <a:buSzPct val="90000"/>
            </a:pPr>
            <a:r>
              <a:rPr lang="en-US" altLang="en-US" sz="3200" u="sng">
                <a:solidFill>
                  <a:srgbClr val="F2F2F2"/>
                </a:solidFill>
                <a:latin typeface="Segoe UI Light" panose="020B0502040204020203" pitchFamily="34" charset="0"/>
              </a:rPr>
              <a:t>Instructor-Led Courses</a:t>
            </a:r>
          </a:p>
          <a:p>
            <a:pPr lvl="1" eaLnBrk="1" hangingPunct="1">
              <a:lnSpc>
                <a:spcPct val="90000"/>
              </a:lnSpc>
              <a:spcBef>
                <a:spcPct val="20000"/>
              </a:spcBef>
              <a:buSzPct val="90000"/>
              <a:buFont typeface="Arial" panose="020B0604020202020204" pitchFamily="34" charset="0"/>
              <a:buChar char="•"/>
            </a:pPr>
            <a:r>
              <a:rPr lang="en-US" altLang="en-US" sz="2000">
                <a:solidFill>
                  <a:srgbClr val="F2F2F2"/>
                </a:solidFill>
                <a:latin typeface="Segoe UI Light" panose="020B0502040204020203" pitchFamily="34" charset="0"/>
              </a:rPr>
              <a:t>40033A: Windows Operating System and Windows Server Fundamentals: Training 2-Pack for MTA Exams 98-349 and 98-365 (5 Days)</a:t>
            </a:r>
          </a:p>
          <a:p>
            <a:pPr lvl="1" eaLnBrk="1" hangingPunct="1">
              <a:lnSpc>
                <a:spcPct val="90000"/>
              </a:lnSpc>
              <a:spcBef>
                <a:spcPct val="20000"/>
              </a:spcBef>
              <a:buSzPct val="90000"/>
              <a:buFont typeface="Arial" panose="020B0604020202020204" pitchFamily="34" charset="0"/>
              <a:buChar char="•"/>
            </a:pPr>
            <a:r>
              <a:rPr lang="en-US" altLang="en-US" sz="2000">
                <a:solidFill>
                  <a:srgbClr val="F2F2F2"/>
                </a:solidFill>
                <a:latin typeface="Segoe UI Light" panose="020B0502040204020203" pitchFamily="34" charset="0"/>
              </a:rPr>
              <a:t>40349A: Windows Operating System Fundamentals: MTA Exam 98-349 (3 Days)</a:t>
            </a:r>
          </a:p>
          <a:p>
            <a:pPr lvl="1" eaLnBrk="1" hangingPunct="1">
              <a:lnSpc>
                <a:spcPct val="90000"/>
              </a:lnSpc>
              <a:spcBef>
                <a:spcPct val="20000"/>
              </a:spcBef>
              <a:buSzPct val="90000"/>
              <a:buFont typeface="Arial" panose="020B0604020202020204" pitchFamily="34" charset="0"/>
              <a:buChar char="•"/>
            </a:pPr>
            <a:r>
              <a:rPr lang="en-US" altLang="en-US" sz="2000">
                <a:solidFill>
                  <a:srgbClr val="F2F2F2"/>
                </a:solidFill>
                <a:latin typeface="Segoe UI Light" panose="020B0502040204020203" pitchFamily="34" charset="0"/>
              </a:rPr>
              <a:t>40032A: Networking and Security Fundamentals: Training 2-Pack for MTA Exams 98-366 and 98-367 (5 Days)</a:t>
            </a:r>
          </a:p>
          <a:p>
            <a:pPr lvl="1" eaLnBrk="1" hangingPunct="1">
              <a:lnSpc>
                <a:spcPct val="90000"/>
              </a:lnSpc>
              <a:spcBef>
                <a:spcPct val="20000"/>
              </a:spcBef>
              <a:buSzPct val="90000"/>
              <a:buFont typeface="Arial" panose="020B0604020202020204" pitchFamily="34" charset="0"/>
              <a:buChar char="•"/>
            </a:pPr>
            <a:r>
              <a:rPr lang="en-US" altLang="en-US" sz="2000">
                <a:solidFill>
                  <a:srgbClr val="F2F2F2"/>
                </a:solidFill>
                <a:latin typeface="Segoe UI Light" panose="020B0502040204020203" pitchFamily="34" charset="0"/>
              </a:rPr>
              <a:t>40366A: Networking Fundamentals: MTA Exam 98-366</a:t>
            </a:r>
          </a:p>
        </p:txBody>
      </p:sp>
      <p:sp>
        <p:nvSpPr>
          <p:cNvPr id="6" name="TextBox 5"/>
          <p:cNvSpPr txBox="1"/>
          <p:nvPr/>
        </p:nvSpPr>
        <p:spPr>
          <a:xfrm>
            <a:off x="8593138" y="4486275"/>
            <a:ext cx="2971800" cy="2074863"/>
          </a:xfrm>
          <a:prstGeom prst="rect">
            <a:avLst/>
          </a:prstGeom>
          <a:solidFill>
            <a:schemeClr val="accent6"/>
          </a:solidFill>
        </p:spPr>
        <p:txBody>
          <a:bodyPr lIns="182880" tIns="146304" rIns="182880" bIns="146304"/>
          <a:lstStyle/>
          <a:p>
            <a:pPr defTabSz="685845" eaLnBrk="1" fontAlgn="auto" hangingPunct="1">
              <a:lnSpc>
                <a:spcPct val="90000"/>
              </a:lnSpc>
              <a:spcBef>
                <a:spcPct val="20000"/>
              </a:spcBef>
              <a:spcAft>
                <a:spcPts val="0"/>
              </a:spcAft>
              <a:buSzPct val="90000"/>
              <a:defRPr/>
            </a:pPr>
            <a:r>
              <a:rPr lang="en-US" sz="3200" u="sng" dirty="0">
                <a:solidFill>
                  <a:srgbClr val="FFFFFF">
                    <a:lumMod val="95000"/>
                  </a:srgbClr>
                </a:solidFill>
                <a:latin typeface="Segoe UI Light"/>
              </a:rPr>
              <a:t>Exams &amp; Certifications</a:t>
            </a:r>
            <a:endParaRPr lang="en-US" sz="3200" dirty="0">
              <a:solidFill>
                <a:srgbClr val="FFFFFF">
                  <a:lumMod val="95000"/>
                </a:srgbClr>
              </a:solidFill>
              <a:latin typeface="Segoe UI Light"/>
            </a:endParaRPr>
          </a:p>
          <a:p>
            <a:pPr marL="429562" lvl="1" indent="-177428" defTabSz="685845" eaLnBrk="1" fontAlgn="auto" hangingPunct="1">
              <a:lnSpc>
                <a:spcPct val="90000"/>
              </a:lnSpc>
              <a:spcBef>
                <a:spcPct val="20000"/>
              </a:spcBef>
              <a:spcAft>
                <a:spcPts val="0"/>
              </a:spcAft>
              <a:buSzPct val="90000"/>
              <a:buFont typeface="Arial" pitchFamily="34" charset="0"/>
              <a:buChar char="•"/>
              <a:defRPr/>
            </a:pPr>
            <a:r>
              <a:rPr lang="en-US" sz="2000" dirty="0">
                <a:solidFill>
                  <a:srgbClr val="FFFFFF">
                    <a:lumMod val="95000"/>
                  </a:srgbClr>
                </a:solidFill>
                <a:latin typeface="Segoe UI Light"/>
              </a:rPr>
              <a:t>Exam 98-366: Networking Fundamentals</a:t>
            </a:r>
          </a:p>
        </p:txBody>
      </p:sp>
      <p:pic>
        <p:nvPicPr>
          <p:cNvPr id="68615"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763000" y="1143000"/>
            <a:ext cx="1497012"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6"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90212" y="3041001"/>
            <a:ext cx="1022350" cy="215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7" name="Picture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00050" y="2743200"/>
            <a:ext cx="1201738"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blackWhite">
          <a:xfrm>
            <a:off x="228600" y="5818252"/>
            <a:ext cx="11734799" cy="712135"/>
          </a:xfrm>
          <a:prstGeom prst="rect">
            <a:avLst/>
          </a:prstGeom>
          <a:noFill/>
          <a:ln w="12700">
            <a:noFill/>
            <a:miter lim="800000"/>
            <a:headEnd type="none" w="sm" len="sm"/>
            <a:tailEnd type="none" w="sm" len="sm"/>
          </a:ln>
          <a:effectLst/>
        </p:spPr>
        <p:txBody>
          <a:bodyPr lIns="179300" tIns="143440" rIns="179300" bIns="143440">
            <a:spAutoFit/>
          </a:bodyPr>
          <a:lstStyle/>
          <a:p>
            <a:pPr algn="r" defTabSz="914017" eaLnBrk="1" hangingPunct="1">
              <a:defRPr/>
            </a:pPr>
            <a:r>
              <a:rPr lang="en-US" sz="686" dirty="0">
                <a:gradFill>
                  <a:gsLst>
                    <a:gs pos="0">
                      <a:srgbClr val="FFFFFF"/>
                    </a:gs>
                    <a:gs pos="100000">
                      <a:srgbClr val="FFFFFF"/>
                    </a:gs>
                  </a:gsLst>
                  <a:lin ang="5400000" scaled="0"/>
                </a:gradFill>
                <a:cs typeface="Segoe UI" pitchFamily="34" charset="0"/>
              </a:rPr>
              <a:t>© 2012 Microsoft Corporation. All rights reserved. Microsoft, Windows, Windows Vista and other product names are or may be registered trademarks and/or trademarks in the U.S. and/or other countries.</a:t>
            </a:r>
          </a:p>
          <a:p>
            <a:pPr algn="r" defTabSz="914017" eaLnBrk="1" hangingPunct="1">
              <a:defRPr/>
            </a:pPr>
            <a:r>
              <a:rPr lang="en-US" sz="686" dirty="0">
                <a:gradFill>
                  <a:gsLst>
                    <a:gs pos="0">
                      <a:srgbClr val="FFFFFF"/>
                    </a:gs>
                    <a:gs pos="100000">
                      <a:srgbClr val="FFFFFF"/>
                    </a:gs>
                  </a:gsLst>
                  <a:lin ang="5400000" scaled="0"/>
                </a:gradFill>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686" dirty="0">
                <a:gradFill>
                  <a:gsLst>
                    <a:gs pos="0">
                      <a:srgbClr val="FFFFFF"/>
                    </a:gs>
                    <a:gs pos="100000">
                      <a:srgbClr val="FFFFFF"/>
                    </a:gs>
                  </a:gsLst>
                  <a:lin ang="5400000" scaled="0"/>
                </a:gradFill>
                <a:cs typeface="Segoe UI" pitchFamily="34" charset="0"/>
              </a:rPr>
            </a:br>
            <a:r>
              <a:rPr lang="en-US" sz="686" dirty="0">
                <a:gradFill>
                  <a:gsLst>
                    <a:gs pos="0">
                      <a:srgbClr val="FFFFFF"/>
                    </a:gs>
                    <a:gs pos="100000">
                      <a:srgbClr val="FFFFFF"/>
                    </a:gs>
                  </a:gsLst>
                  <a:lin ang="5400000" scaled="0"/>
                </a:gradFill>
                <a:cs typeface="Segoe UI" pitchFamily="34" charset="0"/>
              </a:rPr>
              <a:t>MICROSOFT MAKES NO WARRANTIES, EXPRESS, IMPLIED OR STATUTORY, AS TO THE INFORMATION IN THIS PRESENTATION.</a:t>
            </a:r>
          </a:p>
        </p:txBody>
      </p:sp>
      <p:pic>
        <p:nvPicPr>
          <p:cNvPr id="6963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invGray">
          <a:xfrm>
            <a:off x="381000" y="3124200"/>
            <a:ext cx="242728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theme/theme1.xml><?xml version="1.0" encoding="utf-8"?>
<a:theme xmlns:a="http://schemas.openxmlformats.org/drawingml/2006/main" name="Microsoft_IT_Access_Strategy_16x9_External">
  <a:themeElements>
    <a:clrScheme name="Custom 328">
      <a:dk1>
        <a:srgbClr val="505050"/>
      </a:dk1>
      <a:lt1>
        <a:srgbClr val="FFFFFF"/>
      </a:lt1>
      <a:dk2>
        <a:srgbClr val="0072C6"/>
      </a:dk2>
      <a:lt2>
        <a:srgbClr val="D2D2D2"/>
      </a:lt2>
      <a:accent1>
        <a:srgbClr val="0072C6"/>
      </a:accent1>
      <a:accent2>
        <a:srgbClr val="008272"/>
      </a:accent2>
      <a:accent3>
        <a:srgbClr val="68217A"/>
      </a:accent3>
      <a:accent4>
        <a:srgbClr val="0072C6"/>
      </a:accent4>
      <a:accent5>
        <a:srgbClr val="002050"/>
      </a:accent5>
      <a:accent6>
        <a:srgbClr val="442359"/>
      </a:accent6>
      <a:hlink>
        <a:srgbClr val="0072C6"/>
      </a:hlink>
      <a:folHlink>
        <a:srgbClr val="0072C6"/>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93274" tIns="46637" rIns="93274" bIns="46637" numCol="1" rtlCol="0" anchor="ctr" anchorCtr="0" compatLnSpc="1">
        <a:prstTxWarp prst="textNoShape">
          <a:avLst/>
        </a:prstTxWarp>
      </a:bodyPr>
      <a:lstStyle>
        <a:defPPr algn="ctr" defTabSz="932472" fontAlgn="base">
          <a:spcBef>
            <a:spcPct val="0"/>
          </a:spcBef>
          <a:spcAft>
            <a:spcPct val="0"/>
          </a:spcAft>
          <a:defRPr sz="2000" dirty="0">
            <a:gradFill>
              <a:gsLst>
                <a:gs pos="0">
                  <a:srgbClr val="FFFFFF"/>
                </a:gs>
                <a:gs pos="100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LongProperties xmlns="http://schemas.microsoft.com/office/2006/metadata/long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CD1552FCE8DAE49AB00DD8999ECFBA4" ma:contentTypeVersion="" ma:contentTypeDescription="Create a new document." ma:contentTypeScope="" ma:versionID="9fe3c7892d329891ad334a1bdc48c8b5">
  <xsd:schema xmlns:xsd="http://www.w3.org/2001/XMLSchema" xmlns:xs="http://www.w3.org/2001/XMLSchema" xmlns:p="http://schemas.microsoft.com/office/2006/metadata/properties" xmlns:ns2="90316C47-89A7-4E38-A161-F1468A908C39" targetNamespace="http://schemas.microsoft.com/office/2006/metadata/properties" ma:root="true" ma:fieldsID="1b9c2fb9641548b6b16294187cab1b6e" ns2:_="">
    <xsd:import namespace="90316C47-89A7-4E38-A161-F1468A908C39"/>
    <xsd:element name="properties">
      <xsd:complexType>
        <xsd:sequence>
          <xsd:element name="documentManagement">
            <xsd:complexType>
              <xsd:all>
                <xsd:element ref="ns2:Content_x0020_Type"/>
                <xsd:element ref="ns2:Module"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316C47-89A7-4E38-A161-F1468A908C39" elementFormDefault="qualified">
    <xsd:import namespace="http://schemas.microsoft.com/office/2006/documentManagement/types"/>
    <xsd:import namespace="http://schemas.microsoft.com/office/infopath/2007/PartnerControls"/>
    <xsd:element name="Content_x0020_Type" ma:index="8" ma:displayName="Content Type" ma:format="Dropdown" ma:internalName="Content_x0020_Type">
      <xsd:simpleType>
        <xsd:restriction base="dms:Choice">
          <xsd:enumeration value="Assessment"/>
          <xsd:enumeration value="Assessment Policheck"/>
          <xsd:enumeration value="Break Slides"/>
          <xsd:enumeration value="CC File"/>
          <xsd:enumeration value="CC Policheck"/>
          <xsd:enumeration value="Instructor Image"/>
          <xsd:enumeration value="Outline"/>
          <xsd:enumeration value="Promo Package"/>
          <xsd:enumeration value="Slide Presentation"/>
          <xsd:enumeration value="Slide Presentation Policheck"/>
          <xsd:enumeration value="SME Recruitment"/>
          <xsd:enumeration value="Video"/>
        </xsd:restriction>
      </xsd:simpleType>
    </xsd:element>
    <xsd:element name="Module" ma:index="9" nillable="true" ma:displayName="Module" ma:decimals="0" ma:internalName="Module" ma:percentage="FALSE">
      <xsd:simpleType>
        <xsd:restriction base="dms:Number">
          <xsd:maxInclusive value="40"/>
          <xsd:minInclusive value="1"/>
        </xsd:restriction>
      </xsd:simpleType>
    </xsd:element>
    <xsd:element name="Status" ma:index="10" nillable="true" ma:displayName="Status" ma:default="Draft" ma:format="Dropdown" ma:internalName="Status">
      <xsd:simpleType>
        <xsd:restriction base="dms:Choice">
          <xsd:enumeration value="Draft"/>
          <xsd:enumeration value="Final"/>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Status xmlns="90316C47-89A7-4E38-A161-F1468A908C39">Draft</Status>
    <Content_x0020_Type xmlns="90316C47-89A7-4E38-A161-F1468A908C39">Slide Presentation</Content_x0020_Type>
    <Module xmlns="90316C47-89A7-4E38-A161-F1468A908C39">2</Module>
  </documentManagement>
</p:properties>
</file>

<file path=customXml/itemProps1.xml><?xml version="1.0" encoding="utf-8"?>
<ds:datastoreItem xmlns:ds="http://schemas.openxmlformats.org/officeDocument/2006/customXml" ds:itemID="{84A549BA-7B71-4AE4-87FF-3A67B697D0B0}">
  <ds:schemaRefs>
    <ds:schemaRef ds:uri="http://schemas.microsoft.com/office/2006/metadata/longProperties"/>
  </ds:schemaRefs>
</ds:datastoreItem>
</file>

<file path=customXml/itemProps2.xml><?xml version="1.0" encoding="utf-8"?>
<ds:datastoreItem xmlns:ds="http://schemas.openxmlformats.org/officeDocument/2006/customXml" ds:itemID="{0578964E-A8CF-42E9-9C7E-BCC33BB74C64}">
  <ds:schemaRefs>
    <ds:schemaRef ds:uri="http://schemas.microsoft.com/sharepoint/v3/contenttype/forms"/>
  </ds:schemaRefs>
</ds:datastoreItem>
</file>

<file path=customXml/itemProps3.xml><?xml version="1.0" encoding="utf-8"?>
<ds:datastoreItem xmlns:ds="http://schemas.openxmlformats.org/officeDocument/2006/customXml" ds:itemID="{B6062846-CCA4-4BCF-8A2A-5EC2E0D37C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0316C47-89A7-4E38-A161-F1468A908C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A94692E6-C3DD-448E-9426-E85BC298815F}">
  <ds:schemaRefs>
    <ds:schemaRef ds:uri="http://schemas.microsoft.com/office/2006/metadata/properties"/>
    <ds:schemaRef ds:uri="http://schemas.microsoft.com/office/infopath/2007/PartnerControls"/>
    <ds:schemaRef ds:uri="90316C47-89A7-4E38-A161-F1468A908C39"/>
  </ds:schemaRefs>
</ds:datastoreItem>
</file>

<file path=docProps/app.xml><?xml version="1.0" encoding="utf-8"?>
<Properties xmlns="http://schemas.openxmlformats.org/officeDocument/2006/extended-properties" xmlns:vt="http://schemas.openxmlformats.org/officeDocument/2006/docPropsVTypes">
  <Template/>
  <TotalTime>4082</TotalTime>
  <Words>2408</Words>
  <Application>Microsoft Office PowerPoint</Application>
  <PresentationFormat>Widescreen</PresentationFormat>
  <Paragraphs>194</Paragraphs>
  <Slides>27</Slides>
  <Notes>16</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Franklin Gothic Book</vt:lpstr>
      <vt:lpstr>Segoe UI</vt:lpstr>
      <vt:lpstr>Segoe UI Light</vt:lpstr>
      <vt:lpstr>Microsoft_IT_Access_Strategy_16x9_External</vt:lpstr>
      <vt:lpstr>Managing Windows Server</vt:lpstr>
      <vt:lpstr>Objectives</vt:lpstr>
      <vt:lpstr>Server Configuration</vt:lpstr>
      <vt:lpstr>DEMO: Initial Configuration Tasks</vt:lpstr>
      <vt:lpstr>DEMO: Control Panel</vt:lpstr>
      <vt:lpstr>User Account Control</vt:lpstr>
      <vt:lpstr>DEMO: User Account Control</vt:lpstr>
      <vt:lpstr>System Settings</vt:lpstr>
      <vt:lpstr>DEMO: System Settings</vt:lpstr>
      <vt:lpstr>DEMO: Changing Computer Name and Domain Settings</vt:lpstr>
      <vt:lpstr>Workgroups and Domains</vt:lpstr>
      <vt:lpstr>Remote Assistance and Remote Desktop</vt:lpstr>
      <vt:lpstr>IP Address Settings</vt:lpstr>
      <vt:lpstr>DEMO: Networking</vt:lpstr>
      <vt:lpstr>Device Drivers</vt:lpstr>
      <vt:lpstr>Hardware Resources</vt:lpstr>
      <vt:lpstr>Plug and Play (PnP)</vt:lpstr>
      <vt:lpstr>Signed Drivers</vt:lpstr>
      <vt:lpstr>Device Manager</vt:lpstr>
      <vt:lpstr>DEMO: Devices</vt:lpstr>
      <vt:lpstr>DEMO: Administrative Tools</vt:lpstr>
      <vt:lpstr>Server Roles</vt:lpstr>
      <vt:lpstr>Server Features</vt:lpstr>
      <vt:lpstr>Server Core</vt:lpstr>
      <vt:lpstr>Server Core</vt:lpstr>
      <vt:lpstr>Additional Resources &amp; Next Steps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Cat Skintik</dc:creator>
  <cp:lastModifiedBy>Orkhan Mammadov</cp:lastModifiedBy>
  <cp:revision>344</cp:revision>
  <dcterms:created xsi:type="dcterms:W3CDTF">2007-01-10T19:14:18Z</dcterms:created>
  <dcterms:modified xsi:type="dcterms:W3CDTF">2023-12-05T16:15:28Z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0x010100DCD1552FCE8DAE49AB00DD8999ECFBA4</vt:lpwstr>
  </property>
</Properties>
</file>